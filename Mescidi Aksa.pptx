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  <p:embeddedFont>
      <p:font typeface="Open Sauce Bold" charset="1" panose="00000800000000000000"/>
      <p:regular r:id="rId18"/>
    </p:embeddedFont>
    <p:embeddedFont>
      <p:font typeface="Arimo Bold" charset="1" panose="020B07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31.png" Type="http://schemas.openxmlformats.org/officeDocument/2006/relationships/image"/><Relationship Id="rId15" Target="../media/image32.png" Type="http://schemas.openxmlformats.org/officeDocument/2006/relationships/image"/><Relationship Id="rId16" Target="../media/image33.png" Type="http://schemas.openxmlformats.org/officeDocument/2006/relationships/image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0603" y="8842070"/>
            <a:ext cx="8715375" cy="219075"/>
            <a:chOff x="0" y="0"/>
            <a:chExt cx="11620500" cy="29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20500" cy="292100"/>
            </a:xfrm>
            <a:custGeom>
              <a:avLst/>
              <a:gdLst/>
              <a:ahLst/>
              <a:cxnLst/>
              <a:rect r="r" b="b" t="t" l="l"/>
              <a:pathLst>
                <a:path h="292100" w="11620500">
                  <a:moveTo>
                    <a:pt x="0" y="0"/>
                  </a:moveTo>
                  <a:lnTo>
                    <a:pt x="11620500" y="0"/>
                  </a:lnTo>
                  <a:lnTo>
                    <a:pt x="116205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4" t="0" r="-84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90603" y="5712677"/>
            <a:ext cx="8133445" cy="166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50"/>
              </a:lnSpc>
            </a:pPr>
            <a:r>
              <a:rPr lang="en-US" sz="875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MESCİD-İ AKSA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0603" y="7087400"/>
            <a:ext cx="6183640" cy="165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58"/>
              </a:lnSpc>
            </a:pPr>
            <a:r>
              <a:rPr lang="en-US" sz="9612" b="true">
                <a:solidFill>
                  <a:srgbClr val="CB9F5F"/>
                </a:solidFill>
                <a:latin typeface="Roboto Bold"/>
                <a:ea typeface="Roboto Bold"/>
                <a:cs typeface="Roboto Bold"/>
                <a:sym typeface="Roboto Bold"/>
              </a:rPr>
              <a:t>VE KUDÜS: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0603" y="9371769"/>
            <a:ext cx="3891838" cy="43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55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Editör: Yunus Emin Kalaycı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12704" y="0"/>
            <a:ext cx="10675334" cy="10287000"/>
            <a:chOff x="0" y="0"/>
            <a:chExt cx="14233779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3377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233779">
                  <a:moveTo>
                    <a:pt x="0" y="0"/>
                  </a:moveTo>
                  <a:lnTo>
                    <a:pt x="14233779" y="0"/>
                  </a:lnTo>
                  <a:lnTo>
                    <a:pt x="14233779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31465" y="0"/>
            <a:ext cx="3705225" cy="9010650"/>
            <a:chOff x="0" y="0"/>
            <a:chExt cx="4940300" cy="12014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40300" cy="12014200"/>
            </a:xfrm>
            <a:custGeom>
              <a:avLst/>
              <a:gdLst/>
              <a:ahLst/>
              <a:cxnLst/>
              <a:rect r="r" b="b" t="t" l="l"/>
              <a:pathLst>
                <a:path h="12014200" w="4940300">
                  <a:moveTo>
                    <a:pt x="0" y="0"/>
                  </a:moveTo>
                  <a:lnTo>
                    <a:pt x="4940300" y="0"/>
                  </a:lnTo>
                  <a:lnTo>
                    <a:pt x="4940300" y="12014200"/>
                  </a:lnTo>
                  <a:lnTo>
                    <a:pt x="0" y="1201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" t="0" r="-2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91741" y="3917858"/>
            <a:ext cx="8193967" cy="521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5"/>
              </a:lnSpc>
            </a:pPr>
            <a:r>
              <a:rPr lang="en-US" b="true" sz="3794" spc="34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Mescid-i Aksa, İslamda Mescid-i Haram ve Mescid-i Nebevi ile birlikte yeryüzündeki en mukaddes üç mabetten biridir. Müslümanların ilk kıblesi ve Peygamber Efendimiz Hz. Muhammed’in (s.a.v.) İsra ve Miraç mucizesine ev sahipliği yapmış mübarek bir mekândır.</a:t>
            </a:r>
          </a:p>
          <a:p>
            <a:pPr algn="l">
              <a:lnSpc>
                <a:spcPts val="351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91741" y="470341"/>
            <a:ext cx="9860777" cy="2695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7"/>
              </a:lnSpc>
              <a:spcBef>
                <a:spcPct val="0"/>
              </a:spcBef>
            </a:pPr>
            <a:r>
              <a:rPr lang="en-US" b="true" sz="7747">
                <a:solidFill>
                  <a:srgbClr val="D9AD6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Mescid-i Aksa Nedir?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12704" y="0"/>
            <a:ext cx="10675334" cy="10287000"/>
            <a:chOff x="0" y="0"/>
            <a:chExt cx="14233779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3377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233779">
                  <a:moveTo>
                    <a:pt x="0" y="0"/>
                  </a:moveTo>
                  <a:lnTo>
                    <a:pt x="14233779" y="0"/>
                  </a:lnTo>
                  <a:lnTo>
                    <a:pt x="14233779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336" t="0" r="-2333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270369">
            <a:off x="8085617" y="-60181"/>
            <a:ext cx="4265499" cy="10373166"/>
            <a:chOff x="0" y="0"/>
            <a:chExt cx="4940300" cy="12014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40300" cy="12014200"/>
            </a:xfrm>
            <a:custGeom>
              <a:avLst/>
              <a:gdLst/>
              <a:ahLst/>
              <a:cxnLst/>
              <a:rect r="r" b="b" t="t" l="l"/>
              <a:pathLst>
                <a:path h="12014200" w="4940300">
                  <a:moveTo>
                    <a:pt x="0" y="0"/>
                  </a:moveTo>
                  <a:lnTo>
                    <a:pt x="4940300" y="0"/>
                  </a:lnTo>
                  <a:lnTo>
                    <a:pt x="4940300" y="12014200"/>
                  </a:lnTo>
                  <a:lnTo>
                    <a:pt x="0" y="1201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" t="0" r="-2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09863" y="0"/>
            <a:ext cx="2808504" cy="10287000"/>
            <a:chOff x="0" y="0"/>
            <a:chExt cx="3744671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4467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744671">
                  <a:moveTo>
                    <a:pt x="0" y="0"/>
                  </a:moveTo>
                  <a:lnTo>
                    <a:pt x="3744671" y="0"/>
                  </a:lnTo>
                  <a:lnTo>
                    <a:pt x="374467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5409" t="0" r="-275409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49897" y="3030822"/>
            <a:ext cx="9348831" cy="667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1"/>
              </a:lnSpc>
              <a:spcBef>
                <a:spcPct val="0"/>
              </a:spcBef>
            </a:pPr>
            <a:r>
              <a:rPr lang="en-US" b="true" sz="290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İslami kaynaklara ve hadis-i şeriflere baktığımızda Mescid-i Aksa'nın tarihinin insanlık tarihi kadar eski olduğunu görürüz.</a:t>
            </a:r>
          </a:p>
          <a:p>
            <a:pPr algn="ctr">
              <a:lnSpc>
                <a:spcPts val="4061"/>
              </a:lnSpc>
              <a:spcBef>
                <a:spcPct val="0"/>
              </a:spcBef>
            </a:pPr>
            <a:r>
              <a:rPr lang="en-US" b="true" sz="290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Sahabe efendilerimizden Ebû Zer Gıfari’nin rivayet ettiği bir hadiste; Peygamber Efendimize yeryüzünde inşa edilen ilk mescid sorulduğunda Efendimiz (s.a.v.) Mescid-i Haram cevabını vermiş, ikincisi sorulduğunda ise Mescid-i Aksa buyurmuştur. İkisi arasındaki sürenin ise 40 yıl olduğunu belirtmiştir. Bu rivayetten hareketle İslam alimleri, Kâbe'yi ilk inşa eden Hz. Adem (veya Hz. İbrahim) olduğu gibi, Mescid-i Aksa’nın ilk temellerinin de yine Hz. Adem veya Hz. İbrahim tarafından atıldığını kabul ederler.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3445" y="113923"/>
            <a:ext cx="8647832" cy="242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0"/>
              </a:lnSpc>
              <a:spcBef>
                <a:spcPct val="0"/>
              </a:spcBef>
            </a:pPr>
            <a:r>
              <a:rPr lang="en-US" b="true" sz="697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Mescid-i Aksa’nın</a:t>
            </a:r>
          </a:p>
          <a:p>
            <a:pPr algn="ctr">
              <a:lnSpc>
                <a:spcPts val="9761"/>
              </a:lnSpc>
              <a:spcBef>
                <a:spcPct val="0"/>
              </a:spcBef>
            </a:pPr>
            <a:r>
              <a:rPr lang="en-US" b="true" sz="6972">
                <a:solidFill>
                  <a:srgbClr val="D9AD6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İnşaası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12704" y="0"/>
            <a:ext cx="10675334" cy="10287000"/>
            <a:chOff x="0" y="0"/>
            <a:chExt cx="14233779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3377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233779">
                  <a:moveTo>
                    <a:pt x="0" y="0"/>
                  </a:moveTo>
                  <a:lnTo>
                    <a:pt x="14233779" y="0"/>
                  </a:lnTo>
                  <a:lnTo>
                    <a:pt x="14233779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336" t="0" r="-2333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270369">
            <a:off x="8085617" y="-60181"/>
            <a:ext cx="4265499" cy="10373166"/>
            <a:chOff x="0" y="0"/>
            <a:chExt cx="4940300" cy="12014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40300" cy="12014200"/>
            </a:xfrm>
            <a:custGeom>
              <a:avLst/>
              <a:gdLst/>
              <a:ahLst/>
              <a:cxnLst/>
              <a:rect r="r" b="b" t="t" l="l"/>
              <a:pathLst>
                <a:path h="12014200" w="4940300">
                  <a:moveTo>
                    <a:pt x="0" y="0"/>
                  </a:moveTo>
                  <a:lnTo>
                    <a:pt x="4940300" y="0"/>
                  </a:lnTo>
                  <a:lnTo>
                    <a:pt x="4940300" y="12014200"/>
                  </a:lnTo>
                  <a:lnTo>
                    <a:pt x="0" y="1201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" t="0" r="-2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09863" y="0"/>
            <a:ext cx="2808504" cy="10287000"/>
            <a:chOff x="0" y="0"/>
            <a:chExt cx="3744671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44671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744671">
                  <a:moveTo>
                    <a:pt x="0" y="0"/>
                  </a:moveTo>
                  <a:lnTo>
                    <a:pt x="3744671" y="0"/>
                  </a:lnTo>
                  <a:lnTo>
                    <a:pt x="374467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5409" t="0" r="-275409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13445" y="113923"/>
            <a:ext cx="8647832" cy="242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0"/>
              </a:lnSpc>
              <a:spcBef>
                <a:spcPct val="0"/>
              </a:spcBef>
            </a:pPr>
            <a:r>
              <a:rPr lang="en-US" b="true" sz="697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Mescid-i Aksa’nın</a:t>
            </a:r>
          </a:p>
          <a:p>
            <a:pPr algn="ctr">
              <a:lnSpc>
                <a:spcPts val="9761"/>
              </a:lnSpc>
              <a:spcBef>
                <a:spcPct val="0"/>
              </a:spcBef>
            </a:pPr>
            <a:r>
              <a:rPr lang="en-US" b="true" sz="6972">
                <a:solidFill>
                  <a:srgbClr val="D9AD6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İnşaası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2271" y="3093306"/>
            <a:ext cx="9092840" cy="597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6"/>
              </a:lnSpc>
              <a:spcBef>
                <a:spcPct val="0"/>
              </a:spcBef>
            </a:pPr>
            <a:r>
              <a:rPr lang="en-US" b="true" sz="284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İlk inşasından sonra zamanla harap olan mabedin genişletilmesi ve büyük bir mabede dönüştürülmesi gerçekleşmiştir. İslami kaynaklara göre Mescid-i Aksa’nın imarını Hz. Davud (a.s.) başlatmış, ancak tamamlamak oğlu Hz. Süleyman’a (a.s.) nasip olmuştur. Hz. Süleyman, cinlerin ve insanların yardımıyla Beyt-i Makdis’i inşa etmiş ve burayı ibadete açmıştır. Nitekim Hadis-i Şeriflerde Hz. Süleyman’ın bu mabedi tamamladıktan sonra Allah’tan üç dilekte bulunduğu ve bunlardan birinin “Bu mescide sadece namaz kılmak amacıyla gelen kimsenin günahlarından arınması” olduğu nakledilir.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29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5328" y="2995365"/>
            <a:ext cx="9591675" cy="228600"/>
            <a:chOff x="0" y="0"/>
            <a:chExt cx="12788900" cy="304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88900" cy="304800"/>
            </a:xfrm>
            <a:custGeom>
              <a:avLst/>
              <a:gdLst/>
              <a:ahLst/>
              <a:cxnLst/>
              <a:rect r="r" b="b" t="t" l="l"/>
              <a:pathLst>
                <a:path h="304800" w="12788900">
                  <a:moveTo>
                    <a:pt x="0" y="0"/>
                  </a:moveTo>
                  <a:lnTo>
                    <a:pt x="12788900" y="0"/>
                  </a:lnTo>
                  <a:lnTo>
                    <a:pt x="127889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3" r="0" b="-23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5328" y="4919396"/>
            <a:ext cx="4362450" cy="228600"/>
            <a:chOff x="0" y="0"/>
            <a:chExt cx="5816600" cy="304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304800"/>
            </a:xfrm>
            <a:custGeom>
              <a:avLst/>
              <a:gdLst/>
              <a:ahLst/>
              <a:cxnLst/>
              <a:rect r="r" b="b" t="t" l="l"/>
              <a:pathLst>
                <a:path h="304800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0" r="0" b="-21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5328" y="6428013"/>
            <a:ext cx="4362450" cy="219075"/>
            <a:chOff x="0" y="0"/>
            <a:chExt cx="5816600" cy="292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16600" cy="292100"/>
            </a:xfrm>
            <a:custGeom>
              <a:avLst/>
              <a:gdLst/>
              <a:ahLst/>
              <a:cxnLst/>
              <a:rect r="r" b="b" t="t" l="l"/>
              <a:pathLst>
                <a:path h="292100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2" t="0" r="-9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5328" y="7925695"/>
            <a:ext cx="4362450" cy="219075"/>
            <a:chOff x="0" y="0"/>
            <a:chExt cx="5816600" cy="292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16600" cy="292100"/>
            </a:xfrm>
            <a:custGeom>
              <a:avLst/>
              <a:gdLst/>
              <a:ahLst/>
              <a:cxnLst/>
              <a:rect r="r" b="b" t="t" l="l"/>
              <a:pathLst>
                <a:path h="292100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2" t="0" r="-9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873601" y="4493047"/>
            <a:ext cx="228600" cy="4724400"/>
            <a:chOff x="0" y="0"/>
            <a:chExt cx="304800" cy="629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4800" cy="6299200"/>
            </a:xfrm>
            <a:custGeom>
              <a:avLst/>
              <a:gdLst/>
              <a:ahLst/>
              <a:cxnLst/>
              <a:rect r="r" b="b" t="t" l="l"/>
              <a:pathLst>
                <a:path h="62992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6299200"/>
                  </a:lnTo>
                  <a:lnTo>
                    <a:pt x="0" y="629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33" t="0" r="-229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-768026">
            <a:off x="6091855" y="3662469"/>
            <a:ext cx="1314450" cy="1085850"/>
            <a:chOff x="0" y="0"/>
            <a:chExt cx="1752600" cy="1447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526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752600">
                  <a:moveTo>
                    <a:pt x="0" y="0"/>
                  </a:moveTo>
                  <a:lnTo>
                    <a:pt x="1752600" y="0"/>
                  </a:lnTo>
                  <a:lnTo>
                    <a:pt x="17526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5" t="0" r="-65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965953" y="1071334"/>
            <a:ext cx="5895975" cy="8143875"/>
            <a:chOff x="0" y="0"/>
            <a:chExt cx="7861300" cy="1085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61300" cy="10858500"/>
            </a:xfrm>
            <a:custGeom>
              <a:avLst/>
              <a:gdLst/>
              <a:ahLst/>
              <a:cxnLst/>
              <a:rect r="r" b="b" t="t" l="l"/>
              <a:pathLst>
                <a:path h="10858500" w="7861300">
                  <a:moveTo>
                    <a:pt x="0" y="0"/>
                  </a:moveTo>
                  <a:lnTo>
                    <a:pt x="7861300" y="0"/>
                  </a:lnTo>
                  <a:lnTo>
                    <a:pt x="7861300" y="10858500"/>
                  </a:lnTo>
                  <a:lnTo>
                    <a:pt x="0" y="10858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3" r="0" b="-33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89560" y="619497"/>
            <a:ext cx="8483043" cy="211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4"/>
              </a:lnSpc>
            </a:pPr>
            <a:r>
              <a:rPr lang="en-US" b="true" sz="6950" spc="69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MESCİD-İ AKSA’NIN</a:t>
            </a:r>
          </a:p>
          <a:p>
            <a:pPr algn="l">
              <a:lnSpc>
                <a:spcPts val="8334"/>
              </a:lnSpc>
            </a:pPr>
            <a:r>
              <a:rPr lang="en-US" b="true" sz="6950" spc="69">
                <a:solidFill>
                  <a:srgbClr val="CC9F5B"/>
                </a:solidFill>
                <a:latin typeface="Roboto Bold"/>
                <a:ea typeface="Roboto Bold"/>
                <a:cs typeface="Roboto Bold"/>
                <a:sym typeface="Roboto Bold"/>
              </a:rPr>
              <a:t>            ÖNEMİ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1856" y="7370223"/>
            <a:ext cx="2139782" cy="43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2504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İLK KIBLESİDİR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3150" y="5754281"/>
            <a:ext cx="3447059" cy="49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2504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GERÇEKLEŞTİĞİ YERDİR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1856" y="6828063"/>
            <a:ext cx="2567549" cy="47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sz="2378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MÜSLÜMANLARIN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1856" y="3862330"/>
            <a:ext cx="2564073" cy="41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9"/>
              </a:lnSpc>
            </a:pPr>
            <a:r>
              <a:rPr lang="en-US" sz="2378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İSLAM’IN İKİNCİ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49080" y="4745345"/>
            <a:ext cx="4720590" cy="414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4"/>
              </a:lnSpc>
            </a:pPr>
            <a:r>
              <a:rPr lang="en-US" sz="4182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MESCİD-İ AKSA,</a:t>
            </a:r>
          </a:p>
          <a:p>
            <a:pPr algn="l">
              <a:lnSpc>
                <a:spcPts val="5481"/>
              </a:lnSpc>
            </a:pPr>
            <a:r>
              <a:rPr lang="en-US" b="true" sz="4250" spc="42">
                <a:solidFill>
                  <a:srgbClr val="CC9F5B"/>
                </a:solidFill>
                <a:latin typeface="Roboto Bold"/>
                <a:ea typeface="Roboto Bold"/>
                <a:cs typeface="Roboto Bold"/>
                <a:sym typeface="Roboto Bold"/>
              </a:rPr>
              <a:t>MÜSLÜMANLARIN BİR GÜN GERİ ALMAYI UMDUĞU KUTSAL MABETTİR.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8732" y="5338934"/>
            <a:ext cx="2796740" cy="44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76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MİRAÇ</a:t>
            </a:r>
            <a:r>
              <a:rPr lang="en-US" sz="2276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276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MUCİZESİNİN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9056" y="4293518"/>
            <a:ext cx="2871864" cy="489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KUTSAL</a:t>
            </a:r>
            <a:r>
              <a:rPr lang="en-US" sz="247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78">
                <a:solidFill>
                  <a:srgbClr val="F4F4F4"/>
                </a:solidFill>
                <a:latin typeface="Roboto"/>
                <a:ea typeface="Roboto"/>
                <a:cs typeface="Roboto"/>
                <a:sym typeface="Roboto"/>
              </a:rPr>
              <a:t>MABEDİDİR</a:t>
            </a:r>
          </a:p>
        </p:txBody>
      </p:sp>
      <p:grpSp>
        <p:nvGrpSpPr>
          <p:cNvPr name="Group 26" id="26"/>
          <p:cNvGrpSpPr/>
          <p:nvPr/>
        </p:nvGrpSpPr>
        <p:grpSpPr>
          <a:xfrm rot="-10582639">
            <a:off x="10122229" y="7842313"/>
            <a:ext cx="1314450" cy="1085850"/>
            <a:chOff x="0" y="0"/>
            <a:chExt cx="1752600" cy="1447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526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752600">
                  <a:moveTo>
                    <a:pt x="0" y="0"/>
                  </a:moveTo>
                  <a:lnTo>
                    <a:pt x="1752600" y="0"/>
                  </a:lnTo>
                  <a:lnTo>
                    <a:pt x="17526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5" t="0" r="-65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0284817" cy="5616784"/>
            <a:chOff x="0" y="0"/>
            <a:chExt cx="18864129" cy="103021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64129" cy="10302152"/>
            </a:xfrm>
            <a:custGeom>
              <a:avLst/>
              <a:gdLst/>
              <a:ahLst/>
              <a:cxnLst/>
              <a:rect r="r" b="b" t="t" l="l"/>
              <a:pathLst>
                <a:path h="10302152" w="18864129">
                  <a:moveTo>
                    <a:pt x="0" y="0"/>
                  </a:moveTo>
                  <a:lnTo>
                    <a:pt x="18864129" y="0"/>
                  </a:lnTo>
                  <a:lnTo>
                    <a:pt x="18864129" y="10302152"/>
                  </a:lnTo>
                  <a:lnTo>
                    <a:pt x="0" y="10302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977" t="0" r="-597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270369">
            <a:off x="8152067" y="-33558"/>
            <a:ext cx="4265499" cy="10373166"/>
            <a:chOff x="0" y="0"/>
            <a:chExt cx="4940300" cy="12014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40300" cy="12014200"/>
            </a:xfrm>
            <a:custGeom>
              <a:avLst/>
              <a:gdLst/>
              <a:ahLst/>
              <a:cxnLst/>
              <a:rect r="r" b="b" t="t" l="l"/>
              <a:pathLst>
                <a:path h="12014200" w="4940300">
                  <a:moveTo>
                    <a:pt x="0" y="0"/>
                  </a:moveTo>
                  <a:lnTo>
                    <a:pt x="4940300" y="0"/>
                  </a:lnTo>
                  <a:lnTo>
                    <a:pt x="4940300" y="12014200"/>
                  </a:lnTo>
                  <a:lnTo>
                    <a:pt x="0" y="1201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" t="0" r="-2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5601" y="5920480"/>
            <a:ext cx="10093615" cy="386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3"/>
              </a:lnSpc>
              <a:spcBef>
                <a:spcPct val="0"/>
              </a:spcBef>
            </a:pPr>
            <a:r>
              <a:rPr lang="en-US" b="true" sz="3589">
                <a:solidFill>
                  <a:srgbClr val="7ED957"/>
                </a:solidFill>
                <a:latin typeface="Roboto Bold"/>
                <a:ea typeface="Roboto Bold"/>
                <a:cs typeface="Roboto Bold"/>
                <a:sym typeface="Roboto Bold"/>
              </a:rPr>
              <a:t>Kubbet-üs-Sahra: Emevi Halifesi Abdülmelik bin Mervan tarafından inşa ettirilmiştir.</a:t>
            </a:r>
          </a:p>
          <a:p>
            <a:pPr algn="ctr">
              <a:lnSpc>
                <a:spcPts val="5154"/>
              </a:lnSpc>
              <a:spcBef>
                <a:spcPct val="0"/>
              </a:spcBef>
            </a:pPr>
          </a:p>
          <a:p>
            <a:pPr algn="ctr">
              <a:lnSpc>
                <a:spcPts val="5154"/>
              </a:lnSpc>
              <a:spcBef>
                <a:spcPct val="0"/>
              </a:spcBef>
            </a:pPr>
            <a:r>
              <a:rPr lang="en-US" b="true" sz="3589">
                <a:solidFill>
                  <a:srgbClr val="5CE1E6"/>
                </a:solidFill>
                <a:latin typeface="Roboto Bold"/>
                <a:ea typeface="Roboto Bold"/>
                <a:cs typeface="Roboto Bold"/>
                <a:sym typeface="Roboto Bold"/>
              </a:rPr>
              <a:t>Kıble Mescidi (Ana Mescit): Yine Abdülmelik bin Mervan döneminde başlanıp oğlu I. Velid tarafından tamamlanmıştır.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57049" y="2874559"/>
            <a:ext cx="7456723" cy="541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7"/>
              </a:lnSpc>
              <a:spcBef>
                <a:spcPct val="0"/>
              </a:spcBef>
            </a:pPr>
            <a:r>
              <a:rPr lang="en-US" b="true" sz="30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Mescid-i Aksa denildiğinde sadece tek bir bina değil, 144 dönümlük Harem-i Şerif alanının tamamı kastedilir.</a:t>
            </a:r>
          </a:p>
          <a:p>
            <a:pPr algn="ctr">
              <a:lnSpc>
                <a:spcPts val="4307"/>
              </a:lnSpc>
              <a:spcBef>
                <a:spcPct val="0"/>
              </a:spcBef>
            </a:pPr>
          </a:p>
          <a:p>
            <a:pPr algn="ctr">
              <a:lnSpc>
                <a:spcPts val="4307"/>
              </a:lnSpc>
              <a:spcBef>
                <a:spcPct val="0"/>
              </a:spcBef>
            </a:pPr>
            <a:r>
              <a:rPr lang="en-US" b="true" sz="3076">
                <a:solidFill>
                  <a:srgbClr val="FF313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Hz. Ömer’in Kudüs’ü fethinden sonra bölgede ilk İslam mabedi kurulmuştur. Ancak bugün gördüğümüz ana yapıların temelleri Emeviler döneminde atılmıştır: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92326" y="263103"/>
            <a:ext cx="2786169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D9AD69"/>
                </a:solidFill>
                <a:latin typeface="Arimo Bold"/>
                <a:ea typeface="Arimo Bold"/>
                <a:cs typeface="Arimo Bold"/>
                <a:sym typeface="Arimo Bold"/>
              </a:rPr>
              <a:t>NOT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587457" y="354226"/>
            <a:ext cx="1991337" cy="1897993"/>
            <a:chOff x="0" y="0"/>
            <a:chExt cx="812800" cy="774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6844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228600" y="209550"/>
              <a:ext cx="3556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022435" y="354226"/>
            <a:ext cx="1991337" cy="1897993"/>
            <a:chOff x="0" y="0"/>
            <a:chExt cx="812800" cy="774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6844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228600" y="209550"/>
              <a:ext cx="3556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1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5328" y="852697"/>
            <a:ext cx="1543050" cy="228600"/>
            <a:chOff x="0" y="0"/>
            <a:chExt cx="2057400" cy="304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57400" cy="304800"/>
            </a:xfrm>
            <a:custGeom>
              <a:avLst/>
              <a:gdLst/>
              <a:ahLst/>
              <a:cxnLst/>
              <a:rect r="r" b="b" t="t" l="l"/>
              <a:pathLst>
                <a:path h="304800" w="2057400">
                  <a:moveTo>
                    <a:pt x="0" y="0"/>
                  </a:moveTo>
                  <a:lnTo>
                    <a:pt x="2057400" y="0"/>
                  </a:lnTo>
                  <a:lnTo>
                    <a:pt x="20574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6" r="0" b="-26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5328" y="3848062"/>
            <a:ext cx="4362450" cy="228600"/>
            <a:chOff x="0" y="0"/>
            <a:chExt cx="5816600" cy="304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304800"/>
            </a:xfrm>
            <a:custGeom>
              <a:avLst/>
              <a:gdLst/>
              <a:ahLst/>
              <a:cxnLst/>
              <a:rect r="r" b="b" t="t" l="l"/>
              <a:pathLst>
                <a:path h="304800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0" r="0" b="-21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89791" y="1349169"/>
            <a:ext cx="8817864" cy="206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3"/>
              </a:lnSpc>
            </a:pPr>
            <a:r>
              <a:rPr lang="en-US" b="true" sz="6323" spc="63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GÜNCEL DURUM VE </a:t>
            </a:r>
            <a:r>
              <a:rPr lang="en-US" b="true" sz="6323" spc="63">
                <a:solidFill>
                  <a:srgbClr val="D0AD74"/>
                </a:solidFill>
                <a:latin typeface="Roboto Bold"/>
                <a:ea typeface="Roboto Bold"/>
                <a:cs typeface="Roboto Bold"/>
                <a:sym typeface="Roboto Bold"/>
              </a:rPr>
              <a:t>ULUSLARARASI ÖNEMİ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5996" y="4630379"/>
            <a:ext cx="8418004" cy="389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876" spc="2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lang="en-US" sz="2876" spc="2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srail-Filistin çatışmasının merkezinde </a:t>
            </a:r>
          </a:p>
          <a:p>
            <a:pPr algn="l">
              <a:lnSpc>
                <a:spcPts val="3900"/>
              </a:lnSpc>
            </a:pPr>
            <a:r>
              <a:rPr lang="en-US" sz="2876" spc="27">
                <a:solidFill>
                  <a:srgbClr val="D0AD74"/>
                </a:solidFill>
                <a:latin typeface="Roboto"/>
                <a:ea typeface="Roboto"/>
                <a:cs typeface="Roboto"/>
                <a:sym typeface="Roboto"/>
              </a:rPr>
              <a:t>Kudüs</a:t>
            </a:r>
            <a:r>
              <a:rPr lang="en-US" sz="2876" spc="2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 yer alır. Uluslararası toplum, Kudüs’ün konumu ve Mescid-i Aksa’nın </a:t>
            </a:r>
            <a:r>
              <a:rPr lang="en-US" sz="2876" spc="27">
                <a:solidFill>
                  <a:srgbClr val="D0AD74"/>
                </a:solidFill>
                <a:latin typeface="Roboto"/>
                <a:ea typeface="Roboto"/>
                <a:cs typeface="Roboto"/>
                <a:sym typeface="Roboto"/>
              </a:rPr>
              <a:t>korunması</a:t>
            </a:r>
            <a:r>
              <a:rPr lang="en-US" sz="2876" spc="2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 konusunda hassastır.</a:t>
            </a:r>
          </a:p>
          <a:p>
            <a:pPr algn="l">
              <a:lnSpc>
                <a:spcPts val="3900"/>
              </a:lnSpc>
            </a:pPr>
            <a:r>
              <a:rPr lang="en-US" sz="2876" spc="27">
                <a:solidFill>
                  <a:srgbClr val="D0AD74"/>
                </a:solidFill>
                <a:latin typeface="Roboto"/>
                <a:ea typeface="Roboto"/>
                <a:cs typeface="Roboto"/>
                <a:sym typeface="Roboto"/>
              </a:rPr>
              <a:t>Tarihsel kutsallığı,</a:t>
            </a:r>
            <a:r>
              <a:rPr lang="en-US" sz="2876" spc="2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 günümüzün siyasi gerçeklikleriyle çoğu zaman çatışmaktadır.</a:t>
            </a:r>
          </a:p>
          <a:p>
            <a:pPr algn="l">
              <a:lnSpc>
                <a:spcPts val="3900"/>
              </a:lnSpc>
            </a:pPr>
            <a:r>
              <a:rPr lang="en-US" sz="2876" spc="2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Barış ve istikrar için Kudüs’ün </a:t>
            </a:r>
            <a:r>
              <a:rPr lang="en-US" sz="2876" spc="27" u="sng">
                <a:solidFill>
                  <a:srgbClr val="D0AD74"/>
                </a:solidFill>
                <a:latin typeface="Roboto"/>
                <a:ea typeface="Roboto"/>
                <a:cs typeface="Roboto"/>
                <a:sym typeface="Roboto"/>
              </a:rPr>
              <a:t>adil ve kalıcı</a:t>
            </a:r>
            <a:r>
              <a:rPr lang="en-US" sz="2876" spc="27">
                <a:solidFill>
                  <a:srgbClr val="D0AD74"/>
                </a:solidFill>
                <a:latin typeface="Roboto"/>
                <a:ea typeface="Roboto"/>
                <a:cs typeface="Roboto"/>
                <a:sym typeface="Roboto"/>
              </a:rPr>
              <a:t> çözümü </a:t>
            </a:r>
            <a:r>
              <a:rPr lang="en-US" sz="2876" spc="27">
                <a:solidFill>
                  <a:srgbClr val="F6F6F6"/>
                </a:solidFill>
                <a:latin typeface="Roboto"/>
                <a:ea typeface="Roboto"/>
                <a:cs typeface="Roboto"/>
                <a:sym typeface="Roboto"/>
              </a:rPr>
              <a:t>hayati öneme sahiptir.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01864" y="0"/>
            <a:ext cx="7181850" cy="10287000"/>
            <a:chOff x="0" y="0"/>
            <a:chExt cx="95758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75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575800">
                  <a:moveTo>
                    <a:pt x="0" y="0"/>
                  </a:moveTo>
                  <a:lnTo>
                    <a:pt x="9575800" y="0"/>
                  </a:lnTo>
                  <a:lnTo>
                    <a:pt x="95758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" t="0" r="-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83113" y="0"/>
            <a:ext cx="3048000" cy="10287000"/>
            <a:chOff x="0" y="0"/>
            <a:chExt cx="406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" t="0" r="-3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26577" y="2569016"/>
            <a:ext cx="3933825" cy="219075"/>
            <a:chOff x="0" y="0"/>
            <a:chExt cx="5245100" cy="292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45100" cy="292100"/>
            </a:xfrm>
            <a:custGeom>
              <a:avLst/>
              <a:gdLst/>
              <a:ahLst/>
              <a:cxnLst/>
              <a:rect r="r" b="b" t="t" l="l"/>
              <a:pathLst>
                <a:path h="292100" w="5245100">
                  <a:moveTo>
                    <a:pt x="0" y="0"/>
                  </a:moveTo>
                  <a:lnTo>
                    <a:pt x="5245100" y="0"/>
                  </a:lnTo>
                  <a:lnTo>
                    <a:pt x="52451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1" t="0" r="-12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26577" y="4285336"/>
            <a:ext cx="11991975" cy="219075"/>
            <a:chOff x="0" y="0"/>
            <a:chExt cx="15989300" cy="292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89300" cy="292100"/>
            </a:xfrm>
            <a:custGeom>
              <a:avLst/>
              <a:gdLst/>
              <a:ahLst/>
              <a:cxnLst/>
              <a:rect r="r" b="b" t="t" l="l"/>
              <a:pathLst>
                <a:path h="292100" w="15989300">
                  <a:moveTo>
                    <a:pt x="0" y="0"/>
                  </a:moveTo>
                  <a:lnTo>
                    <a:pt x="15989300" y="0"/>
                  </a:lnTo>
                  <a:lnTo>
                    <a:pt x="159893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5" t="0" r="-55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1601" y="4285336"/>
            <a:ext cx="228600" cy="1085850"/>
            <a:chOff x="0" y="0"/>
            <a:chExt cx="304800" cy="1447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4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79" t="0" r="-379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478216" y="4285336"/>
            <a:ext cx="228600" cy="1085850"/>
            <a:chOff x="0" y="0"/>
            <a:chExt cx="304800" cy="1447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79" t="0" r="-379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873601" y="4285336"/>
            <a:ext cx="228600" cy="1085850"/>
            <a:chOff x="0" y="0"/>
            <a:chExt cx="304800" cy="1447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4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79" t="0" r="-379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487728" y="4285336"/>
            <a:ext cx="228600" cy="1085850"/>
            <a:chOff x="0" y="0"/>
            <a:chExt cx="304800" cy="1447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4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79" t="0" r="-379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664352" y="4285336"/>
            <a:ext cx="447675" cy="1085850"/>
            <a:chOff x="0" y="0"/>
            <a:chExt cx="596900" cy="1447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69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25" t="0" r="-225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82840" y="4285336"/>
            <a:ext cx="666750" cy="438150"/>
            <a:chOff x="0" y="0"/>
            <a:chExt cx="889000" cy="584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89000" cy="584200"/>
            </a:xfrm>
            <a:custGeom>
              <a:avLst/>
              <a:gdLst/>
              <a:ahLst/>
              <a:cxnLst/>
              <a:rect r="r" b="b" t="t" l="l"/>
              <a:pathLst>
                <a:path h="584200" w="889000">
                  <a:moveTo>
                    <a:pt x="0" y="0"/>
                  </a:moveTo>
                  <a:lnTo>
                    <a:pt x="889000" y="0"/>
                  </a:lnTo>
                  <a:lnTo>
                    <a:pt x="889000" y="584200"/>
                  </a:lnTo>
                  <a:lnTo>
                    <a:pt x="0" y="58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07" t="0" r="-107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259465" y="4285336"/>
            <a:ext cx="447675" cy="438150"/>
            <a:chOff x="0" y="0"/>
            <a:chExt cx="596900" cy="584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6900" cy="584200"/>
            </a:xfrm>
            <a:custGeom>
              <a:avLst/>
              <a:gdLst/>
              <a:ahLst/>
              <a:cxnLst/>
              <a:rect r="r" b="b" t="t" l="l"/>
              <a:pathLst>
                <a:path h="5842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584200"/>
                  </a:lnTo>
                  <a:lnTo>
                    <a:pt x="0" y="58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59" t="0" r="-159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654840" y="4285336"/>
            <a:ext cx="666750" cy="438150"/>
            <a:chOff x="0" y="0"/>
            <a:chExt cx="889000" cy="584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89000" cy="584200"/>
            </a:xfrm>
            <a:custGeom>
              <a:avLst/>
              <a:gdLst/>
              <a:ahLst/>
              <a:cxnLst/>
              <a:rect r="r" b="b" t="t" l="l"/>
              <a:pathLst>
                <a:path h="584200" w="889000">
                  <a:moveTo>
                    <a:pt x="0" y="0"/>
                  </a:moveTo>
                  <a:lnTo>
                    <a:pt x="889000" y="0"/>
                  </a:lnTo>
                  <a:lnTo>
                    <a:pt x="889000" y="584200"/>
                  </a:lnTo>
                  <a:lnTo>
                    <a:pt x="0" y="58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07" t="0" r="-107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68976" y="4285336"/>
            <a:ext cx="666750" cy="438150"/>
            <a:chOff x="0" y="0"/>
            <a:chExt cx="889000" cy="584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89000" cy="584200"/>
            </a:xfrm>
            <a:custGeom>
              <a:avLst/>
              <a:gdLst/>
              <a:ahLst/>
              <a:cxnLst/>
              <a:rect r="r" b="b" t="t" l="l"/>
              <a:pathLst>
                <a:path h="584200" w="889000">
                  <a:moveTo>
                    <a:pt x="0" y="0"/>
                  </a:moveTo>
                  <a:lnTo>
                    <a:pt x="889000" y="0"/>
                  </a:lnTo>
                  <a:lnTo>
                    <a:pt x="889000" y="584200"/>
                  </a:lnTo>
                  <a:lnTo>
                    <a:pt x="0" y="58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07" t="0" r="-107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664352" y="4285336"/>
            <a:ext cx="447675" cy="438150"/>
            <a:chOff x="0" y="0"/>
            <a:chExt cx="596900" cy="584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6900" cy="584200"/>
            </a:xfrm>
            <a:custGeom>
              <a:avLst/>
              <a:gdLst/>
              <a:ahLst/>
              <a:cxnLst/>
              <a:rect r="r" b="b" t="t" l="l"/>
              <a:pathLst>
                <a:path h="584200" w="596900">
                  <a:moveTo>
                    <a:pt x="0" y="0"/>
                  </a:moveTo>
                  <a:lnTo>
                    <a:pt x="596900" y="0"/>
                  </a:lnTo>
                  <a:lnTo>
                    <a:pt x="596900" y="584200"/>
                  </a:lnTo>
                  <a:lnTo>
                    <a:pt x="0" y="58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59" t="0" r="-159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605333" y="456086"/>
            <a:ext cx="3832155" cy="122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3"/>
              </a:lnSpc>
            </a:pPr>
            <a:r>
              <a:rPr lang="en-US" sz="6317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KUDÜS VE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44163" y="1354541"/>
            <a:ext cx="10003946" cy="106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4"/>
              </a:lnSpc>
            </a:pPr>
            <a:r>
              <a:rPr lang="en-US" sz="6189" b="true">
                <a:solidFill>
                  <a:srgbClr val="D1A969"/>
                </a:solidFill>
                <a:latin typeface="Roboto Bold"/>
                <a:ea typeface="Roboto Bold"/>
                <a:cs typeface="Roboto Bold"/>
                <a:sym typeface="Roboto Bold"/>
              </a:rPr>
              <a:t>MESCİD-İ AKSA TARİHÇESİ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63642" y="2968361"/>
            <a:ext cx="8012049" cy="537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3"/>
              </a:lnSpc>
            </a:pPr>
            <a:r>
              <a:rPr lang="en-US" sz="266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Antik</a:t>
            </a:r>
            <a:r>
              <a:rPr lang="en-US" sz="26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66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dönemden</a:t>
            </a:r>
            <a:r>
              <a:rPr lang="en-US" sz="26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66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günümüze</a:t>
            </a:r>
            <a:r>
              <a:rPr lang="en-US" sz="26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66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önemli</a:t>
            </a:r>
            <a:r>
              <a:rPr lang="en-US" sz="26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66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dönüm</a:t>
            </a:r>
            <a:r>
              <a:rPr lang="en-US" sz="26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66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noktaları.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25269" y="5332724"/>
            <a:ext cx="1788700" cy="257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2433" b="true">
                <a:solidFill>
                  <a:srgbClr val="D1A969"/>
                </a:solidFill>
                <a:latin typeface="Roboto Bold"/>
                <a:ea typeface="Roboto Bold"/>
                <a:cs typeface="Roboto Bold"/>
                <a:sym typeface="Roboto Bold"/>
              </a:rPr>
              <a:t>ANTİK DÖNEM</a:t>
            </a:r>
          </a:p>
          <a:p>
            <a:pPr algn="l">
              <a:lnSpc>
                <a:spcPts val="2714"/>
              </a:lnSpc>
            </a:pPr>
            <a:r>
              <a:rPr lang="en-US" sz="19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Kudüs, farklı medeniyetlerin iz bıraktığı kutsal bir şehirdi.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61247" y="5361727"/>
            <a:ext cx="1799787" cy="3419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676" b="true">
                <a:solidFill>
                  <a:srgbClr val="D1A969"/>
                </a:solidFill>
                <a:latin typeface="Roboto Bold"/>
                <a:ea typeface="Roboto Bold"/>
                <a:cs typeface="Roboto Bold"/>
                <a:sym typeface="Roboto Bold"/>
              </a:rPr>
              <a:t>İSLAM'IN YÜKSELİŞİ</a:t>
            </a:r>
          </a:p>
          <a:p>
            <a:pPr algn="l">
              <a:lnSpc>
                <a:spcPts val="2952"/>
              </a:lnSpc>
            </a:pPr>
            <a:r>
              <a:rPr lang="en-US" sz="197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7. yüzyılda İslam hakimiyetine geçen şehir, Mescid-i Aksa ile manevi önem kazandı.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065814" y="5320198"/>
            <a:ext cx="2449678" cy="261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2541" b="true">
                <a:solidFill>
                  <a:srgbClr val="D1A969"/>
                </a:solidFill>
                <a:latin typeface="Roboto Bold"/>
                <a:ea typeface="Roboto Bold"/>
                <a:cs typeface="Roboto Bold"/>
                <a:sym typeface="Roboto Bold"/>
              </a:rPr>
              <a:t>OSMANLI DÖNEMİ</a:t>
            </a:r>
          </a:p>
          <a:p>
            <a:pPr algn="l">
              <a:lnSpc>
                <a:spcPts val="2720"/>
              </a:lnSpc>
            </a:pPr>
            <a:r>
              <a:rPr lang="en-US" sz="19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Osmanlılar döneminde Mescid-i Aksa'nın onarımı ve korunması sağlandı; külliyeler yapıldı.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695086" y="5313855"/>
            <a:ext cx="2046608" cy="308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2597" b="true">
                <a:solidFill>
                  <a:srgbClr val="D1A969"/>
                </a:solidFill>
                <a:latin typeface="Roboto Bold"/>
                <a:ea typeface="Roboto Bold"/>
                <a:cs typeface="Roboto Bold"/>
                <a:sym typeface="Roboto Bold"/>
              </a:rPr>
              <a:t>20. YÜZYIL VE SONRASI</a:t>
            </a:r>
          </a:p>
          <a:p>
            <a:pPr algn="l">
              <a:lnSpc>
                <a:spcPts val="2862"/>
              </a:lnSpc>
            </a:pPr>
            <a:r>
              <a:rPr lang="en-US" sz="20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Siyonistler *srail ve ABD, Kudüs ve Mescid-i Aksa üzerindeki asılsız hak taleplerini artırdı.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29730" y="5320979"/>
            <a:ext cx="1588256" cy="49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529" b="true">
                <a:solidFill>
                  <a:srgbClr val="D1A969"/>
                </a:solidFill>
                <a:latin typeface="Roboto Bold"/>
                <a:ea typeface="Roboto Bold"/>
                <a:cs typeface="Roboto Bold"/>
                <a:sym typeface="Roboto Bold"/>
              </a:rPr>
              <a:t>GÜNÜMÜZ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58691" y="5906655"/>
            <a:ext cx="2106673" cy="221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0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Kudüs ve</a:t>
            </a:r>
          </a:p>
          <a:p>
            <a:pPr algn="l">
              <a:lnSpc>
                <a:spcPts val="2949"/>
              </a:lnSpc>
            </a:pPr>
            <a:r>
              <a:rPr lang="en-US" sz="20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Mescid-i Aksa, mücadele ve ümidin simgesi olmayı sürdürüyor.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5328" y="3214002"/>
            <a:ext cx="12858750" cy="219075"/>
            <a:chOff x="0" y="0"/>
            <a:chExt cx="17145000" cy="29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145000" cy="292100"/>
            </a:xfrm>
            <a:custGeom>
              <a:avLst/>
              <a:gdLst/>
              <a:ahLst/>
              <a:cxnLst/>
              <a:rect r="r" b="b" t="t" l="l"/>
              <a:pathLst>
                <a:path h="292100" w="17145000">
                  <a:moveTo>
                    <a:pt x="0" y="0"/>
                  </a:moveTo>
                  <a:lnTo>
                    <a:pt x="17145000" y="0"/>
                  </a:lnTo>
                  <a:lnTo>
                    <a:pt x="171450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8" t="0" r="-8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092352" y="3848062"/>
            <a:ext cx="228600" cy="1943100"/>
            <a:chOff x="0" y="0"/>
            <a:chExt cx="304800" cy="2590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800" cy="2590800"/>
            </a:xfrm>
            <a:custGeom>
              <a:avLst/>
              <a:gdLst/>
              <a:ahLst/>
              <a:cxnLst/>
              <a:rect r="r" b="b" t="t" l="l"/>
              <a:pathLst>
                <a:path h="2590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590800"/>
                  </a:lnTo>
                  <a:lnTo>
                    <a:pt x="0" y="259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1" t="0" r="-137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8186" y="673875"/>
            <a:ext cx="4799809" cy="144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8"/>
              </a:lnSpc>
            </a:pPr>
            <a:r>
              <a:rPr lang="en-US" b="true" sz="7512" spc="149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SONUÇ 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2091" y="1758258"/>
            <a:ext cx="12330541" cy="129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18"/>
              </a:lnSpc>
            </a:pPr>
            <a:r>
              <a:rPr lang="en-US" b="true" sz="7512" spc="149">
                <a:solidFill>
                  <a:srgbClr val="D8A65D"/>
                </a:solidFill>
                <a:latin typeface="Roboto Bold"/>
                <a:ea typeface="Roboto Bold"/>
                <a:cs typeface="Roboto Bold"/>
                <a:sym typeface="Roboto Bold"/>
              </a:rPr>
              <a:t>GELECEK PLANI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6015" y="3822659"/>
            <a:ext cx="5067100" cy="143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417" b="true">
                <a:solidFill>
                  <a:srgbClr val="D8A65D"/>
                </a:solidFill>
                <a:latin typeface="Roboto Bold"/>
                <a:ea typeface="Roboto Bold"/>
                <a:cs typeface="Roboto Bold"/>
                <a:sym typeface="Roboto Bold"/>
              </a:rPr>
              <a:t>KUTSAL</a:t>
            </a:r>
            <a:r>
              <a:rPr lang="en-US" sz="24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417" b="true">
                <a:solidFill>
                  <a:srgbClr val="D8A65D"/>
                </a:solidFill>
                <a:latin typeface="Roboto Bold"/>
                <a:ea typeface="Roboto Bold"/>
                <a:cs typeface="Roboto Bold"/>
                <a:sym typeface="Roboto Bold"/>
              </a:rPr>
              <a:t>MEKANLARIN</a:t>
            </a:r>
            <a:r>
              <a:rPr lang="en-US" sz="24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417" b="true">
                <a:solidFill>
                  <a:srgbClr val="D8A65D"/>
                </a:solidFill>
                <a:latin typeface="Roboto Bold"/>
                <a:ea typeface="Roboto Bold"/>
                <a:cs typeface="Roboto Bold"/>
                <a:sym typeface="Roboto Bold"/>
              </a:rPr>
              <a:t>DEĞERİ</a:t>
            </a:r>
          </a:p>
          <a:p>
            <a:pPr algn="l">
              <a:lnSpc>
                <a:spcPts val="2949"/>
              </a:lnSpc>
            </a:pPr>
            <a:r>
              <a:rPr lang="en-US" sz="20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Mescid-i Aksa, inançların ortak mirasıdır. Korunması, tüm insanlığın sorumluluğudur.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53832" y="3822659"/>
            <a:ext cx="4326969" cy="181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417" b="true">
                <a:solidFill>
                  <a:srgbClr val="D8A65D"/>
                </a:solidFill>
                <a:latin typeface="Roboto Bold"/>
                <a:ea typeface="Roboto Bold"/>
                <a:cs typeface="Roboto Bold"/>
                <a:sym typeface="Roboto Bold"/>
              </a:rPr>
              <a:t>BARIŞ</a:t>
            </a:r>
            <a:r>
              <a:rPr lang="en-US" sz="24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417" b="true">
                <a:solidFill>
                  <a:srgbClr val="D8A65D"/>
                </a:solidFill>
                <a:latin typeface="Roboto Bold"/>
                <a:ea typeface="Roboto Bold"/>
                <a:cs typeface="Roboto Bold"/>
                <a:sym typeface="Roboto Bold"/>
              </a:rPr>
              <a:t>İÇİN</a:t>
            </a:r>
            <a:r>
              <a:rPr lang="en-US" sz="24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417" b="true">
                <a:solidFill>
                  <a:srgbClr val="D8A65D"/>
                </a:solidFill>
                <a:latin typeface="Roboto Bold"/>
                <a:ea typeface="Roboto Bold"/>
                <a:cs typeface="Roboto Bold"/>
                <a:sym typeface="Roboto Bold"/>
              </a:rPr>
              <a:t>YOL</a:t>
            </a:r>
            <a:r>
              <a:rPr lang="en-US" sz="24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417" b="true">
                <a:solidFill>
                  <a:srgbClr val="D8A65D"/>
                </a:solidFill>
                <a:latin typeface="Roboto Bold"/>
                <a:ea typeface="Roboto Bold"/>
                <a:cs typeface="Roboto Bold"/>
                <a:sym typeface="Roboto Bold"/>
              </a:rPr>
              <a:t>HARİTASI</a:t>
            </a:r>
          </a:p>
          <a:p>
            <a:pPr algn="l">
              <a:lnSpc>
                <a:spcPts val="2949"/>
              </a:lnSpc>
            </a:pPr>
            <a:r>
              <a:rPr lang="en-US" sz="20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Saygı, diyalog ve adalet temelinde uzlaşı ve birlikte yaşama kültürü inşa edilmelidir.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13942" y="3822659"/>
            <a:ext cx="4280583" cy="181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417" b="true">
                <a:solidFill>
                  <a:srgbClr val="D8A65D"/>
                </a:solidFill>
                <a:latin typeface="Roboto Bold"/>
                <a:ea typeface="Roboto Bold"/>
                <a:cs typeface="Roboto Bold"/>
                <a:sym typeface="Roboto Bold"/>
              </a:rPr>
              <a:t>GELECEĞE DAİR UMUT</a:t>
            </a:r>
          </a:p>
          <a:p>
            <a:pPr algn="l">
              <a:lnSpc>
                <a:spcPts val="2949"/>
              </a:lnSpc>
            </a:pPr>
            <a:r>
              <a:rPr lang="en-US" sz="20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Barış mümkündür. Bizim sesimiz, adımlarımız ve dualarımız bu umudu gerçeğe dönüştürecektir.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1334750" cy="10287000"/>
            <a:chOff x="0" y="0"/>
            <a:chExt cx="15113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113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5113000">
                  <a:moveTo>
                    <a:pt x="0" y="0"/>
                  </a:moveTo>
                  <a:lnTo>
                    <a:pt x="15113000" y="0"/>
                  </a:lnTo>
                  <a:lnTo>
                    <a:pt x="15113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0" r="0" b="-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5328" y="4493047"/>
            <a:ext cx="7639050" cy="228600"/>
            <a:chOff x="0" y="0"/>
            <a:chExt cx="10185400" cy="304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5400" cy="304800"/>
            </a:xfrm>
            <a:custGeom>
              <a:avLst/>
              <a:gdLst/>
              <a:ahLst/>
              <a:cxnLst/>
              <a:rect r="r" b="b" t="t" l="l"/>
              <a:pathLst>
                <a:path h="304800" w="10185400">
                  <a:moveTo>
                    <a:pt x="0" y="0"/>
                  </a:moveTo>
                  <a:lnTo>
                    <a:pt x="10185400" y="0"/>
                  </a:lnTo>
                  <a:lnTo>
                    <a:pt x="101854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6" r="0" b="-27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44198" y="962130"/>
            <a:ext cx="7058416" cy="311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b="true" sz="10017" spc="99">
                <a:solidFill>
                  <a:srgbClr val="D7AC66"/>
                </a:solidFill>
                <a:latin typeface="Roboto Bold"/>
                <a:ea typeface="Roboto Bold"/>
                <a:cs typeface="Roboto Bold"/>
                <a:sym typeface="Roboto Bold"/>
              </a:rPr>
              <a:t>TEŞEKKÜR</a:t>
            </a:r>
          </a:p>
          <a:p>
            <a:pPr algn="l">
              <a:lnSpc>
                <a:spcPts val="12691"/>
              </a:lnSpc>
            </a:pPr>
            <a:r>
              <a:rPr lang="en-US" b="true" sz="9065" spc="90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VE</a:t>
            </a:r>
            <a:r>
              <a:rPr lang="en-US" b="true" sz="9065" spc="9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b="true" sz="9065" spc="90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SORULAR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4198" y="5076825"/>
            <a:ext cx="5434668" cy="496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9" spc="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Dinlediğiniz için teşekkür ederiz.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6164" y="6001860"/>
            <a:ext cx="6943467" cy="136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1"/>
              </a:lnSpc>
            </a:pPr>
            <a:r>
              <a:rPr lang="en-US" sz="2816" spc="28">
                <a:solidFill>
                  <a:srgbClr val="D7AC66"/>
                </a:solidFill>
                <a:latin typeface="Roboto"/>
                <a:ea typeface="Roboto"/>
                <a:cs typeface="Roboto"/>
                <a:sym typeface="Roboto"/>
              </a:rPr>
              <a:t>Sorularınızı </a:t>
            </a:r>
            <a:r>
              <a:rPr lang="en-US" sz="2816" spc="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memnuniyetle cevaplarız.</a:t>
            </a:r>
            <a:r>
              <a:rPr lang="en-US" sz="2816" spc="28">
                <a:solidFill>
                  <a:srgbClr val="D7AC6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816" spc="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Katkılarınız ve ilginiz bizim için </a:t>
            </a:r>
            <a:r>
              <a:rPr lang="en-US" sz="2816" spc="28">
                <a:solidFill>
                  <a:srgbClr val="B68445"/>
                </a:solidFill>
                <a:latin typeface="Roboto"/>
                <a:ea typeface="Roboto"/>
                <a:cs typeface="Roboto"/>
                <a:sym typeface="Roboto"/>
              </a:rPr>
              <a:t>önemlidir.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9525" y="9920111"/>
            <a:ext cx="3109210" cy="33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3"/>
              </a:lnSpc>
            </a:pPr>
            <a:r>
              <a:rPr lang="en-US" sz="191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editör:yunus emin kalaycı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DAHZH_nehgQ</dc:identifier>
  <dcterms:modified xsi:type="dcterms:W3CDTF">2011-08-01T06:04:30Z</dcterms:modified>
  <cp:revision>1</cp:revision>
  <dc:title>Mescidi Aksa</dc:title>
</cp:coreProperties>
</file>