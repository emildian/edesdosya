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Lst>
  <p:sldSz cx="18288000" cy="10287000"/>
  <p:notesSz cx="6858000" cy="9144000"/>
  <p:embeddedFontLst>
    <p:embeddedFont>
      <p:font typeface="Nyutro Sans" panose="020B0604020202020204" charset="0"/>
      <p:regular r:id="rId9"/>
    </p:embeddedFont>
    <p:embeddedFont>
      <p:font typeface="Nyutro Sans Bold" panose="020B0604020202020204" charset="0"/>
      <p:regular r:id="rId10"/>
    </p:embeddedFont>
    <p:embeddedFont>
      <p:font typeface="Nyutro Sans Heavy"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3" d="100"/>
          <a:sy n="73" d="100"/>
        </p:scale>
        <p:origin x="59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A2E1F"/>
        </a:solidFill>
        <a:effectLst/>
      </p:bgPr>
    </p:bg>
    <p:spTree>
      <p:nvGrpSpPr>
        <p:cNvPr id="1" name=""/>
        <p:cNvGrpSpPr/>
        <p:nvPr/>
      </p:nvGrpSpPr>
      <p:grpSpPr>
        <a:xfrm>
          <a:off x="0" y="0"/>
          <a:ext cx="0" cy="0"/>
          <a:chOff x="0" y="0"/>
          <a:chExt cx="0" cy="0"/>
        </a:xfrm>
      </p:grpSpPr>
      <p:grpSp>
        <p:nvGrpSpPr>
          <p:cNvPr id="2" name="Group 2"/>
          <p:cNvGrpSpPr/>
          <p:nvPr/>
        </p:nvGrpSpPr>
        <p:grpSpPr>
          <a:xfrm>
            <a:off x="10734675" y="666750"/>
            <a:ext cx="6886575" cy="10283443"/>
            <a:chOff x="0" y="0"/>
            <a:chExt cx="1863593" cy="2782828"/>
          </a:xfrm>
        </p:grpSpPr>
        <p:sp>
          <p:nvSpPr>
            <p:cNvPr id="3" name="Freeform 3"/>
            <p:cNvSpPr/>
            <p:nvPr/>
          </p:nvSpPr>
          <p:spPr>
            <a:xfrm>
              <a:off x="0" y="0"/>
              <a:ext cx="1863594" cy="2782840"/>
            </a:xfrm>
            <a:custGeom>
              <a:avLst/>
              <a:gdLst/>
              <a:ahLst/>
              <a:cxnLst/>
              <a:rect l="l" t="t" r="r" b="b"/>
              <a:pathLst>
                <a:path w="1863594" h="2782840">
                  <a:moveTo>
                    <a:pt x="1376152" y="0"/>
                  </a:moveTo>
                  <a:lnTo>
                    <a:pt x="177673" y="0"/>
                  </a:lnTo>
                  <a:cubicBezTo>
                    <a:pt x="79547" y="0"/>
                    <a:pt x="0" y="79547"/>
                    <a:pt x="0" y="177673"/>
                  </a:cubicBezTo>
                  <a:lnTo>
                    <a:pt x="0" y="2605167"/>
                  </a:lnTo>
                  <a:cubicBezTo>
                    <a:pt x="0" y="2703293"/>
                    <a:pt x="79547" y="2782840"/>
                    <a:pt x="177673" y="2782840"/>
                  </a:cubicBezTo>
                  <a:lnTo>
                    <a:pt x="1685921" y="2782840"/>
                  </a:lnTo>
                  <a:cubicBezTo>
                    <a:pt x="1784047" y="2782840"/>
                    <a:pt x="1863594" y="2703293"/>
                    <a:pt x="1863594" y="2605167"/>
                  </a:cubicBezTo>
                  <a:lnTo>
                    <a:pt x="1863594" y="523958"/>
                  </a:lnTo>
                  <a:cubicBezTo>
                    <a:pt x="1863594" y="480251"/>
                    <a:pt x="1847484" y="438079"/>
                    <a:pt x="1818345" y="405503"/>
                  </a:cubicBezTo>
                  <a:lnTo>
                    <a:pt x="1508568" y="59214"/>
                  </a:lnTo>
                  <a:cubicBezTo>
                    <a:pt x="1474864" y="21536"/>
                    <a:pt x="1426705" y="0"/>
                    <a:pt x="1376152" y="0"/>
                  </a:cubicBezTo>
                  <a:close/>
                </a:path>
              </a:pathLst>
            </a:custGeom>
            <a:blipFill>
              <a:blip r:embed="rId2"/>
              <a:stretch>
                <a:fillRect l="-5997" r="-5997"/>
              </a:stretch>
            </a:blipFill>
          </p:spPr>
        </p:sp>
      </p:grpSp>
      <p:grpSp>
        <p:nvGrpSpPr>
          <p:cNvPr id="4" name="Group 4"/>
          <p:cNvGrpSpPr/>
          <p:nvPr/>
        </p:nvGrpSpPr>
        <p:grpSpPr>
          <a:xfrm>
            <a:off x="666750" y="666750"/>
            <a:ext cx="9763125" cy="5977194"/>
            <a:chOff x="0" y="0"/>
            <a:chExt cx="13017500" cy="7969592"/>
          </a:xfrm>
        </p:grpSpPr>
        <p:sp>
          <p:nvSpPr>
            <p:cNvPr id="5" name="TextBox 5"/>
            <p:cNvSpPr txBox="1"/>
            <p:nvPr/>
          </p:nvSpPr>
          <p:spPr>
            <a:xfrm>
              <a:off x="0" y="-9525"/>
              <a:ext cx="13017500" cy="5597525"/>
            </a:xfrm>
            <a:prstGeom prst="rect">
              <a:avLst/>
            </a:prstGeom>
          </p:spPr>
          <p:txBody>
            <a:bodyPr lIns="0" tIns="0" rIns="0" bIns="0" rtlCol="0" anchor="t">
              <a:spAutoFit/>
            </a:bodyPr>
            <a:lstStyle/>
            <a:p>
              <a:pPr marL="0" lvl="0" indent="0" algn="l">
                <a:lnSpc>
                  <a:spcPts val="15000"/>
                </a:lnSpc>
              </a:pPr>
              <a:r>
                <a:rPr lang="en-US" sz="15000" b="1" spc="-150">
                  <a:solidFill>
                    <a:srgbClr val="D4B27E"/>
                  </a:solidFill>
                  <a:latin typeface="Nyutro Sans Heavy"/>
                  <a:ea typeface="Nyutro Sans Heavy"/>
                  <a:cs typeface="Nyutro Sans Heavy"/>
                  <a:sym typeface="Nyutro Sans Heavy"/>
                </a:rPr>
                <a:t>Sadaka Taşı Sunumu</a:t>
              </a:r>
            </a:p>
          </p:txBody>
        </p:sp>
        <p:sp>
          <p:nvSpPr>
            <p:cNvPr id="6" name="TextBox 6"/>
            <p:cNvSpPr txBox="1"/>
            <p:nvPr/>
          </p:nvSpPr>
          <p:spPr>
            <a:xfrm>
              <a:off x="1255752" y="6665229"/>
              <a:ext cx="10505996" cy="1304363"/>
            </a:xfrm>
            <a:prstGeom prst="rect">
              <a:avLst/>
            </a:prstGeom>
          </p:spPr>
          <p:txBody>
            <a:bodyPr lIns="0" tIns="0" rIns="0" bIns="0" rtlCol="0" anchor="t">
              <a:spAutoFit/>
            </a:bodyPr>
            <a:lstStyle/>
            <a:p>
              <a:pPr marL="0" lvl="0" indent="0" algn="l">
                <a:lnSpc>
                  <a:spcPts val="7543"/>
                </a:lnSpc>
              </a:pPr>
              <a:r>
                <a:rPr lang="en-US" sz="5387" spc="-107">
                  <a:solidFill>
                    <a:srgbClr val="D4B27E"/>
                  </a:solidFill>
                  <a:latin typeface="Nyutro Sans"/>
                  <a:ea typeface="Nyutro Sans"/>
                  <a:cs typeface="Nyutro Sans"/>
                  <a:sym typeface="Nyutro Sans"/>
                </a:rPr>
                <a:t>Yunus Emin Sunar...</a:t>
              </a: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41907"/>
        </a:solidFill>
        <a:effectLst/>
      </p:bgPr>
    </p:bg>
    <p:spTree>
      <p:nvGrpSpPr>
        <p:cNvPr id="1" name=""/>
        <p:cNvGrpSpPr/>
        <p:nvPr/>
      </p:nvGrpSpPr>
      <p:grpSpPr>
        <a:xfrm>
          <a:off x="0" y="0"/>
          <a:ext cx="0" cy="0"/>
          <a:chOff x="0" y="0"/>
          <a:chExt cx="0" cy="0"/>
        </a:xfrm>
      </p:grpSpPr>
      <p:grpSp>
        <p:nvGrpSpPr>
          <p:cNvPr id="2" name="Group 2"/>
          <p:cNvGrpSpPr/>
          <p:nvPr/>
        </p:nvGrpSpPr>
        <p:grpSpPr>
          <a:xfrm>
            <a:off x="9296400" y="-588019"/>
            <a:ext cx="9442510" cy="7522219"/>
            <a:chOff x="0" y="0"/>
            <a:chExt cx="3546545" cy="2825296"/>
          </a:xfrm>
        </p:grpSpPr>
        <p:sp>
          <p:nvSpPr>
            <p:cNvPr id="3" name="Freeform 3"/>
            <p:cNvSpPr/>
            <p:nvPr/>
          </p:nvSpPr>
          <p:spPr>
            <a:xfrm>
              <a:off x="0" y="0"/>
              <a:ext cx="3546545" cy="2825296"/>
            </a:xfrm>
            <a:custGeom>
              <a:avLst/>
              <a:gdLst/>
              <a:ahLst/>
              <a:cxnLst/>
              <a:rect l="l" t="t" r="r" b="b"/>
              <a:pathLst>
                <a:path w="3546545" h="2825296">
                  <a:moveTo>
                    <a:pt x="3522299" y="155341"/>
                  </a:moveTo>
                  <a:lnTo>
                    <a:pt x="3411722" y="31728"/>
                  </a:lnTo>
                  <a:cubicBezTo>
                    <a:pt x="3393661" y="11539"/>
                    <a:pt x="3367855" y="0"/>
                    <a:pt x="3340767" y="0"/>
                  </a:cubicBezTo>
                  <a:lnTo>
                    <a:pt x="205781" y="10"/>
                  </a:lnTo>
                  <a:cubicBezTo>
                    <a:pt x="178693" y="10"/>
                    <a:pt x="152888" y="11550"/>
                    <a:pt x="134828" y="31739"/>
                  </a:cubicBezTo>
                  <a:lnTo>
                    <a:pt x="24247" y="155355"/>
                  </a:lnTo>
                  <a:cubicBezTo>
                    <a:pt x="8634" y="172808"/>
                    <a:pt x="1" y="195404"/>
                    <a:pt x="0" y="218821"/>
                  </a:cubicBezTo>
                  <a:lnTo>
                    <a:pt x="0" y="2606484"/>
                  </a:lnTo>
                  <a:cubicBezTo>
                    <a:pt x="0" y="2629903"/>
                    <a:pt x="8633" y="2652501"/>
                    <a:pt x="24247" y="2669956"/>
                  </a:cubicBezTo>
                  <a:lnTo>
                    <a:pt x="134824" y="2793567"/>
                  </a:lnTo>
                  <a:cubicBezTo>
                    <a:pt x="152885" y="2813756"/>
                    <a:pt x="178690" y="2825296"/>
                    <a:pt x="205778" y="2825296"/>
                  </a:cubicBezTo>
                  <a:lnTo>
                    <a:pt x="3340764" y="2825287"/>
                  </a:lnTo>
                  <a:cubicBezTo>
                    <a:pt x="3367852" y="2825287"/>
                    <a:pt x="3393657" y="2813747"/>
                    <a:pt x="3411717" y="2793558"/>
                  </a:cubicBezTo>
                  <a:lnTo>
                    <a:pt x="3522298" y="2669943"/>
                  </a:lnTo>
                  <a:cubicBezTo>
                    <a:pt x="3537912" y="2652488"/>
                    <a:pt x="3546545" y="2629890"/>
                    <a:pt x="3546545" y="2606471"/>
                  </a:cubicBezTo>
                  <a:lnTo>
                    <a:pt x="3546545" y="218812"/>
                  </a:lnTo>
                  <a:cubicBezTo>
                    <a:pt x="3546545" y="195393"/>
                    <a:pt x="3537913" y="172796"/>
                    <a:pt x="3522299" y="155341"/>
                  </a:cubicBezTo>
                  <a:close/>
                </a:path>
              </a:pathLst>
            </a:custGeom>
            <a:blipFill>
              <a:blip r:embed="rId2"/>
              <a:stretch>
                <a:fillRect l="-18084" r="-18084"/>
              </a:stretch>
            </a:blipFill>
          </p:spPr>
        </p:sp>
      </p:grpSp>
      <p:sp>
        <p:nvSpPr>
          <p:cNvPr id="4" name="TextBox 4"/>
          <p:cNvSpPr txBox="1"/>
          <p:nvPr/>
        </p:nvSpPr>
        <p:spPr>
          <a:xfrm>
            <a:off x="1028700" y="319531"/>
            <a:ext cx="6754422" cy="2709645"/>
          </a:xfrm>
          <a:prstGeom prst="rect">
            <a:avLst/>
          </a:prstGeom>
        </p:spPr>
        <p:txBody>
          <a:bodyPr lIns="0" tIns="0" rIns="0" bIns="0" rtlCol="0" anchor="t">
            <a:spAutoFit/>
          </a:bodyPr>
          <a:lstStyle/>
          <a:p>
            <a:pPr marL="0" lvl="0" indent="0" algn="l">
              <a:lnSpc>
                <a:spcPts val="9465"/>
              </a:lnSpc>
              <a:spcBef>
                <a:spcPct val="0"/>
              </a:spcBef>
            </a:pPr>
            <a:r>
              <a:rPr lang="en-US" sz="10517" b="1" u="none" strike="noStrike" spc="-105">
                <a:solidFill>
                  <a:srgbClr val="D4B27E"/>
                </a:solidFill>
                <a:latin typeface="Nyutro Sans Heavy"/>
                <a:ea typeface="Nyutro Sans Heavy"/>
                <a:cs typeface="Nyutro Sans Heavy"/>
                <a:sym typeface="Nyutro Sans Heavy"/>
              </a:rPr>
              <a:t>Sadaka Taşı Uygulaması</a:t>
            </a:r>
          </a:p>
        </p:txBody>
      </p:sp>
      <p:sp>
        <p:nvSpPr>
          <p:cNvPr id="5" name="TextBox 5"/>
          <p:cNvSpPr txBox="1"/>
          <p:nvPr/>
        </p:nvSpPr>
        <p:spPr>
          <a:xfrm>
            <a:off x="896547" y="4372855"/>
            <a:ext cx="6886575" cy="908050"/>
          </a:xfrm>
          <a:prstGeom prst="rect">
            <a:avLst/>
          </a:prstGeom>
        </p:spPr>
        <p:txBody>
          <a:bodyPr lIns="0" tIns="0" rIns="0" bIns="0" rtlCol="0" anchor="t">
            <a:spAutoFit/>
          </a:bodyPr>
          <a:lstStyle/>
          <a:p>
            <a:pPr marL="0" lvl="0" indent="0" algn="l">
              <a:lnSpc>
                <a:spcPts val="3499"/>
              </a:lnSpc>
            </a:pPr>
            <a:r>
              <a:rPr lang="en-US" sz="2499">
                <a:solidFill>
                  <a:srgbClr val="D4B27E"/>
                </a:solidFill>
                <a:latin typeface="Nyutro Sans"/>
                <a:ea typeface="Nyutro Sans"/>
                <a:cs typeface="Nyutro Sans"/>
                <a:sym typeface="Nyutro Sans"/>
              </a:rPr>
              <a:t>Sadaka Taşı, Osmanlı ve Selçuklularda yaygın olarak kullanılan bir yardımlaşma uygulamasıdır.</a:t>
            </a:r>
          </a:p>
        </p:txBody>
      </p:sp>
      <p:sp>
        <p:nvSpPr>
          <p:cNvPr id="6" name="TextBox 6"/>
          <p:cNvSpPr txBox="1"/>
          <p:nvPr/>
        </p:nvSpPr>
        <p:spPr>
          <a:xfrm>
            <a:off x="1028700" y="3227361"/>
            <a:ext cx="6802628" cy="798555"/>
          </a:xfrm>
          <a:prstGeom prst="rect">
            <a:avLst/>
          </a:prstGeom>
        </p:spPr>
        <p:txBody>
          <a:bodyPr lIns="0" tIns="0" rIns="0" bIns="0" rtlCol="0" anchor="t">
            <a:spAutoFit/>
          </a:bodyPr>
          <a:lstStyle/>
          <a:p>
            <a:pPr marL="0" lvl="0" indent="0" algn="l">
              <a:lnSpc>
                <a:spcPts val="5537"/>
              </a:lnSpc>
            </a:pPr>
            <a:r>
              <a:rPr lang="en-US" sz="4614" b="1">
                <a:solidFill>
                  <a:srgbClr val="D4B27E"/>
                </a:solidFill>
                <a:latin typeface="Nyutro Sans Bold"/>
                <a:ea typeface="Nyutro Sans Bold"/>
                <a:cs typeface="Nyutro Sans Bold"/>
                <a:sym typeface="Nyutro Sans Bold"/>
              </a:rPr>
              <a:t>Sadaka Taşı nedir?</a:t>
            </a:r>
          </a:p>
        </p:txBody>
      </p:sp>
      <p:sp>
        <p:nvSpPr>
          <p:cNvPr id="7" name="TextBox 7"/>
          <p:cNvSpPr txBox="1"/>
          <p:nvPr/>
        </p:nvSpPr>
        <p:spPr>
          <a:xfrm>
            <a:off x="896547" y="5846850"/>
            <a:ext cx="6802628" cy="798555"/>
          </a:xfrm>
          <a:prstGeom prst="rect">
            <a:avLst/>
          </a:prstGeom>
        </p:spPr>
        <p:txBody>
          <a:bodyPr lIns="0" tIns="0" rIns="0" bIns="0" rtlCol="0" anchor="t">
            <a:spAutoFit/>
          </a:bodyPr>
          <a:lstStyle/>
          <a:p>
            <a:pPr marL="0" lvl="0" indent="0" algn="l">
              <a:lnSpc>
                <a:spcPts val="5537"/>
              </a:lnSpc>
            </a:pPr>
            <a:r>
              <a:rPr lang="en-US" sz="4614" b="1">
                <a:solidFill>
                  <a:srgbClr val="D4B27E"/>
                </a:solidFill>
                <a:latin typeface="Nyutro Sans Bold"/>
                <a:ea typeface="Nyutro Sans Bold"/>
                <a:cs typeface="Nyutro Sans Bold"/>
                <a:sym typeface="Nyutro Sans Bold"/>
              </a:rPr>
              <a:t>Sadaka Taşı Nasıl Çalışır?</a:t>
            </a:r>
          </a:p>
        </p:txBody>
      </p:sp>
      <p:sp>
        <p:nvSpPr>
          <p:cNvPr id="8" name="TextBox 8"/>
          <p:cNvSpPr txBox="1"/>
          <p:nvPr/>
        </p:nvSpPr>
        <p:spPr>
          <a:xfrm>
            <a:off x="896547" y="6838950"/>
            <a:ext cx="6886575" cy="2660650"/>
          </a:xfrm>
          <a:prstGeom prst="rect">
            <a:avLst/>
          </a:prstGeom>
        </p:spPr>
        <p:txBody>
          <a:bodyPr lIns="0" tIns="0" rIns="0" bIns="0" rtlCol="0" anchor="t">
            <a:spAutoFit/>
          </a:bodyPr>
          <a:lstStyle/>
          <a:p>
            <a:pPr marL="0" lvl="0" indent="0" algn="l">
              <a:lnSpc>
                <a:spcPts val="3499"/>
              </a:lnSpc>
            </a:pPr>
            <a:r>
              <a:rPr lang="en-US" sz="2499">
                <a:solidFill>
                  <a:srgbClr val="D4B27E"/>
                </a:solidFill>
                <a:latin typeface="Nyutro Sans"/>
                <a:ea typeface="Nyutro Sans"/>
                <a:cs typeface="Nyutro Sans"/>
                <a:sym typeface="Nyutro Sans"/>
              </a:rPr>
              <a:t>Osmanlı ve Selçuklu dönemlerinde kalabalık meydanlara, önemli yapıların önüne vb. yerlere bir taş konurdu. Bu taşın üstünde bir oyuk olurdu. Zenginler bu oyuk kısma gönüllerinden geçen miktarda altın/para koyardı. İhtiyacı olan kişiler de bu oyuktan paraları alırdı.</a:t>
            </a:r>
          </a:p>
        </p:txBody>
      </p:sp>
      <p:sp>
        <p:nvSpPr>
          <p:cNvPr id="9" name="TextBox 9"/>
          <p:cNvSpPr txBox="1"/>
          <p:nvPr/>
        </p:nvSpPr>
        <p:spPr>
          <a:xfrm>
            <a:off x="9703772" y="7162631"/>
            <a:ext cx="7953936" cy="798555"/>
          </a:xfrm>
          <a:prstGeom prst="rect">
            <a:avLst/>
          </a:prstGeom>
        </p:spPr>
        <p:txBody>
          <a:bodyPr lIns="0" tIns="0" rIns="0" bIns="0" rtlCol="0" anchor="t">
            <a:spAutoFit/>
          </a:bodyPr>
          <a:lstStyle/>
          <a:p>
            <a:pPr marL="0" lvl="0" indent="0" algn="l">
              <a:lnSpc>
                <a:spcPts val="5537"/>
              </a:lnSpc>
            </a:pPr>
            <a:r>
              <a:rPr lang="en-US" sz="4614" b="1">
                <a:solidFill>
                  <a:srgbClr val="D4B27E"/>
                </a:solidFill>
                <a:latin typeface="Nyutro Sans Bold"/>
                <a:ea typeface="Nyutro Sans Bold"/>
                <a:cs typeface="Nyutro Sans Bold"/>
                <a:sym typeface="Nyutro Sans Bold"/>
              </a:rPr>
              <a:t>Sadaka Taşı’nın amacı nedir?</a:t>
            </a:r>
          </a:p>
        </p:txBody>
      </p:sp>
      <p:sp>
        <p:nvSpPr>
          <p:cNvPr id="10" name="TextBox 10"/>
          <p:cNvSpPr txBox="1"/>
          <p:nvPr/>
        </p:nvSpPr>
        <p:spPr>
          <a:xfrm>
            <a:off x="9982241" y="8093075"/>
            <a:ext cx="6868055" cy="1664706"/>
          </a:xfrm>
          <a:prstGeom prst="rect">
            <a:avLst/>
          </a:prstGeom>
        </p:spPr>
        <p:txBody>
          <a:bodyPr lIns="0" tIns="0" rIns="0" bIns="0" rtlCol="0" anchor="t">
            <a:spAutoFit/>
          </a:bodyPr>
          <a:lstStyle/>
          <a:p>
            <a:pPr algn="ctr">
              <a:lnSpc>
                <a:spcPts val="4311"/>
              </a:lnSpc>
              <a:spcBef>
                <a:spcPct val="0"/>
              </a:spcBef>
            </a:pPr>
            <a:r>
              <a:rPr lang="en-US" sz="3079">
                <a:solidFill>
                  <a:srgbClr val="D4B27E"/>
                </a:solidFill>
                <a:latin typeface="Nyutro Sans"/>
                <a:ea typeface="Nyutro Sans"/>
                <a:cs typeface="Nyutro Sans"/>
                <a:sym typeface="Nyutro Sans"/>
              </a:rPr>
              <a:t>Amacı, fakirlerin utanmadan, dilenmeden, mahcup olmadan ihtiyaçlarını karşılamasıdır.</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B5843"/>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8324850" cy="7162800"/>
            <a:chOff x="0" y="0"/>
            <a:chExt cx="2192553" cy="1886499"/>
          </a:xfrm>
        </p:grpSpPr>
        <p:sp>
          <p:nvSpPr>
            <p:cNvPr id="3" name="Freeform 3"/>
            <p:cNvSpPr/>
            <p:nvPr/>
          </p:nvSpPr>
          <p:spPr>
            <a:xfrm>
              <a:off x="0" y="0"/>
              <a:ext cx="2192553" cy="1886499"/>
            </a:xfrm>
            <a:custGeom>
              <a:avLst/>
              <a:gdLst/>
              <a:ahLst/>
              <a:cxnLst/>
              <a:rect l="l" t="t" r="r" b="b"/>
              <a:pathLst>
                <a:path w="2192553" h="1886499">
                  <a:moveTo>
                    <a:pt x="23249" y="0"/>
                  </a:moveTo>
                  <a:lnTo>
                    <a:pt x="2169304" y="0"/>
                  </a:lnTo>
                  <a:cubicBezTo>
                    <a:pt x="2182144" y="0"/>
                    <a:pt x="2192553" y="10409"/>
                    <a:pt x="2192553" y="23249"/>
                  </a:cubicBezTo>
                  <a:lnTo>
                    <a:pt x="2192553" y="1863249"/>
                  </a:lnTo>
                  <a:cubicBezTo>
                    <a:pt x="2192553" y="1876090"/>
                    <a:pt x="2182144" y="1886499"/>
                    <a:pt x="2169304" y="1886499"/>
                  </a:cubicBezTo>
                  <a:lnTo>
                    <a:pt x="23249" y="1886499"/>
                  </a:lnTo>
                  <a:cubicBezTo>
                    <a:pt x="10409" y="1886499"/>
                    <a:pt x="0" y="1876090"/>
                    <a:pt x="0" y="1863249"/>
                  </a:cubicBezTo>
                  <a:lnTo>
                    <a:pt x="0" y="23249"/>
                  </a:lnTo>
                  <a:cubicBezTo>
                    <a:pt x="0" y="10409"/>
                    <a:pt x="10409" y="0"/>
                    <a:pt x="23249" y="0"/>
                  </a:cubicBezTo>
                  <a:close/>
                </a:path>
              </a:pathLst>
            </a:custGeom>
            <a:solidFill>
              <a:srgbClr val="241907"/>
            </a:solidFill>
            <a:ln cap="rnd">
              <a:noFill/>
              <a:prstDash val="solid"/>
              <a:round/>
            </a:ln>
          </p:spPr>
        </p:sp>
        <p:sp>
          <p:nvSpPr>
            <p:cNvPr id="4" name="TextBox 4"/>
            <p:cNvSpPr txBox="1"/>
            <p:nvPr/>
          </p:nvSpPr>
          <p:spPr>
            <a:xfrm>
              <a:off x="0" y="-9525"/>
              <a:ext cx="2192553" cy="1896024"/>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9296400" y="2457450"/>
            <a:ext cx="8324850" cy="7162800"/>
            <a:chOff x="0" y="0"/>
            <a:chExt cx="2192553" cy="1886499"/>
          </a:xfrm>
        </p:grpSpPr>
        <p:sp>
          <p:nvSpPr>
            <p:cNvPr id="6" name="Freeform 6"/>
            <p:cNvSpPr/>
            <p:nvPr/>
          </p:nvSpPr>
          <p:spPr>
            <a:xfrm>
              <a:off x="0" y="0"/>
              <a:ext cx="2192553" cy="1886499"/>
            </a:xfrm>
            <a:custGeom>
              <a:avLst/>
              <a:gdLst/>
              <a:ahLst/>
              <a:cxnLst/>
              <a:rect l="l" t="t" r="r" b="b"/>
              <a:pathLst>
                <a:path w="2192553" h="1886499">
                  <a:moveTo>
                    <a:pt x="23249" y="0"/>
                  </a:moveTo>
                  <a:lnTo>
                    <a:pt x="2169304" y="0"/>
                  </a:lnTo>
                  <a:cubicBezTo>
                    <a:pt x="2182144" y="0"/>
                    <a:pt x="2192553" y="10409"/>
                    <a:pt x="2192553" y="23249"/>
                  </a:cubicBezTo>
                  <a:lnTo>
                    <a:pt x="2192553" y="1863249"/>
                  </a:lnTo>
                  <a:cubicBezTo>
                    <a:pt x="2192553" y="1876090"/>
                    <a:pt x="2182144" y="1886499"/>
                    <a:pt x="2169304" y="1886499"/>
                  </a:cubicBezTo>
                  <a:lnTo>
                    <a:pt x="23249" y="1886499"/>
                  </a:lnTo>
                  <a:cubicBezTo>
                    <a:pt x="10409" y="1886499"/>
                    <a:pt x="0" y="1876090"/>
                    <a:pt x="0" y="1863249"/>
                  </a:cubicBezTo>
                  <a:lnTo>
                    <a:pt x="0" y="23249"/>
                  </a:lnTo>
                  <a:cubicBezTo>
                    <a:pt x="0" y="10409"/>
                    <a:pt x="10409" y="0"/>
                    <a:pt x="23249" y="0"/>
                  </a:cubicBezTo>
                  <a:close/>
                </a:path>
              </a:pathLst>
            </a:custGeom>
            <a:solidFill>
              <a:srgbClr val="241907"/>
            </a:solidFill>
            <a:ln cap="rnd">
              <a:noFill/>
              <a:prstDash val="solid"/>
              <a:round/>
            </a:ln>
          </p:spPr>
        </p:sp>
        <p:sp>
          <p:nvSpPr>
            <p:cNvPr id="7" name="TextBox 7"/>
            <p:cNvSpPr txBox="1"/>
            <p:nvPr/>
          </p:nvSpPr>
          <p:spPr>
            <a:xfrm>
              <a:off x="0" y="-9525"/>
              <a:ext cx="2192553" cy="1896024"/>
            </a:xfrm>
            <a:prstGeom prst="rect">
              <a:avLst/>
            </a:prstGeom>
          </p:spPr>
          <p:txBody>
            <a:bodyPr lIns="50800" tIns="50800" rIns="50800" bIns="50800" rtlCol="0" anchor="ctr"/>
            <a:lstStyle/>
            <a:p>
              <a:pPr marL="0" lvl="0" indent="0" algn="ctr">
                <a:lnSpc>
                  <a:spcPts val="2524"/>
                </a:lnSpc>
                <a:spcBef>
                  <a:spcPct val="0"/>
                </a:spcBef>
              </a:pPr>
              <a:endParaRPr/>
            </a:p>
          </p:txBody>
        </p:sp>
      </p:grpSp>
      <p:sp>
        <p:nvSpPr>
          <p:cNvPr id="8" name="TextBox 8"/>
          <p:cNvSpPr txBox="1"/>
          <p:nvPr/>
        </p:nvSpPr>
        <p:spPr>
          <a:xfrm>
            <a:off x="666750" y="742950"/>
            <a:ext cx="16954500" cy="1295400"/>
          </a:xfrm>
          <a:prstGeom prst="rect">
            <a:avLst/>
          </a:prstGeom>
        </p:spPr>
        <p:txBody>
          <a:bodyPr lIns="0" tIns="0" rIns="0" bIns="0" rtlCol="0" anchor="t">
            <a:spAutoFit/>
          </a:bodyPr>
          <a:lstStyle/>
          <a:p>
            <a:pPr marL="0" lvl="0" indent="0" algn="ctr">
              <a:lnSpc>
                <a:spcPts val="8100"/>
              </a:lnSpc>
              <a:spcBef>
                <a:spcPct val="0"/>
              </a:spcBef>
            </a:pPr>
            <a:r>
              <a:rPr lang="en-US" sz="9000" b="1" u="none" strike="noStrike" spc="-89">
                <a:solidFill>
                  <a:srgbClr val="D4B27E"/>
                </a:solidFill>
                <a:latin typeface="Nyutro Sans Heavy"/>
                <a:ea typeface="Nyutro Sans Heavy"/>
                <a:cs typeface="Nyutro Sans Heavy"/>
                <a:sym typeface="Nyutro Sans Heavy"/>
              </a:rPr>
              <a:t>Sosyal Faydalar</a:t>
            </a:r>
          </a:p>
        </p:txBody>
      </p:sp>
      <p:sp>
        <p:nvSpPr>
          <p:cNvPr id="9" name="TextBox 9"/>
          <p:cNvSpPr txBox="1"/>
          <p:nvPr/>
        </p:nvSpPr>
        <p:spPr>
          <a:xfrm>
            <a:off x="10330969" y="5181600"/>
            <a:ext cx="6737831" cy="711733"/>
          </a:xfrm>
          <a:prstGeom prst="rect">
            <a:avLst/>
          </a:prstGeom>
        </p:spPr>
        <p:txBody>
          <a:bodyPr wrap="square" lIns="0" tIns="0" rIns="0" bIns="0" rtlCol="0" anchor="t">
            <a:spAutoFit/>
          </a:bodyPr>
          <a:lstStyle/>
          <a:p>
            <a:pPr marL="0" lvl="0" indent="0" algn="ctr">
              <a:lnSpc>
                <a:spcPts val="5400"/>
              </a:lnSpc>
            </a:pPr>
            <a:r>
              <a:rPr lang="en-US" sz="6000" b="1" spc="-60" dirty="0" err="1">
                <a:solidFill>
                  <a:srgbClr val="D4B27E"/>
                </a:solidFill>
                <a:latin typeface="Nyutro Sans Bold"/>
                <a:ea typeface="Nyutro Sans Bold"/>
                <a:cs typeface="Nyutro Sans Bold"/>
                <a:sym typeface="Nyutro Sans Bold"/>
              </a:rPr>
              <a:t>Yoksulluk</a:t>
            </a:r>
            <a:r>
              <a:rPr lang="en-US" sz="6000" b="1" spc="-60" dirty="0">
                <a:solidFill>
                  <a:srgbClr val="D4B27E"/>
                </a:solidFill>
                <a:latin typeface="Nyutro Sans Bold"/>
                <a:ea typeface="Nyutro Sans Bold"/>
                <a:cs typeface="Nyutro Sans Bold"/>
                <a:sym typeface="Nyutro Sans Bold"/>
              </a:rPr>
              <a:t> </a:t>
            </a:r>
            <a:r>
              <a:rPr lang="en-US" sz="6000" b="1" spc="-60" dirty="0" err="1">
                <a:solidFill>
                  <a:srgbClr val="D4B27E"/>
                </a:solidFill>
                <a:latin typeface="Nyutro Sans Bold"/>
                <a:ea typeface="Nyutro Sans Bold"/>
                <a:cs typeface="Nyutro Sans Bold"/>
                <a:sym typeface="Nyutro Sans Bold"/>
              </a:rPr>
              <a:t>Engelleyici</a:t>
            </a:r>
            <a:endParaRPr lang="en-US" sz="6000" b="1" spc="-60" dirty="0">
              <a:solidFill>
                <a:srgbClr val="D4B27E"/>
              </a:solidFill>
              <a:latin typeface="Nyutro Sans Bold"/>
              <a:ea typeface="Nyutro Sans Bold"/>
              <a:cs typeface="Nyutro Sans Bold"/>
              <a:sym typeface="Nyutro Sans Bold"/>
            </a:endParaRPr>
          </a:p>
        </p:txBody>
      </p:sp>
      <p:sp>
        <p:nvSpPr>
          <p:cNvPr id="10" name="TextBox 10"/>
          <p:cNvSpPr txBox="1"/>
          <p:nvPr/>
        </p:nvSpPr>
        <p:spPr>
          <a:xfrm>
            <a:off x="10330969" y="6178550"/>
            <a:ext cx="6625745" cy="1446778"/>
          </a:xfrm>
          <a:prstGeom prst="rect">
            <a:avLst/>
          </a:prstGeom>
        </p:spPr>
        <p:txBody>
          <a:bodyPr lIns="0" tIns="0" rIns="0" bIns="0" rtlCol="0" anchor="t">
            <a:spAutoFit/>
          </a:bodyPr>
          <a:lstStyle/>
          <a:p>
            <a:pPr marL="0" lvl="0" indent="0" algn="ctr">
              <a:lnSpc>
                <a:spcPts val="3728"/>
              </a:lnSpc>
              <a:spcBef>
                <a:spcPct val="0"/>
              </a:spcBef>
            </a:pPr>
            <a:r>
              <a:rPr lang="en-US" sz="2662" u="none" strike="noStrike">
                <a:solidFill>
                  <a:srgbClr val="D4B27E"/>
                </a:solidFill>
                <a:latin typeface="Nyutro Sans"/>
                <a:ea typeface="Nyutro Sans"/>
                <a:cs typeface="Nyutro Sans"/>
                <a:sym typeface="Nyutro Sans"/>
              </a:rPr>
              <a:t>Yoksullukla mücadelede önemli bir araçtır; ihtiyaç sahiplerine </a:t>
            </a:r>
            <a:r>
              <a:rPr lang="en-US" sz="2662" b="1" u="none" strike="noStrike">
                <a:solidFill>
                  <a:srgbClr val="D4B27E"/>
                </a:solidFill>
                <a:latin typeface="Nyutro Sans Bold"/>
                <a:ea typeface="Nyutro Sans Bold"/>
                <a:cs typeface="Nyutro Sans Bold"/>
                <a:sym typeface="Nyutro Sans Bold"/>
              </a:rPr>
              <a:t>destek sağlar</a:t>
            </a:r>
            <a:r>
              <a:rPr lang="en-US" sz="2662" u="none" strike="noStrike">
                <a:solidFill>
                  <a:srgbClr val="D4B27E"/>
                </a:solidFill>
                <a:latin typeface="Nyutro Sans"/>
                <a:ea typeface="Nyutro Sans"/>
                <a:cs typeface="Nyutro Sans"/>
                <a:sym typeface="Nyutro Sans"/>
              </a:rPr>
              <a:t> ve umut verir.</a:t>
            </a:r>
          </a:p>
        </p:txBody>
      </p:sp>
      <p:sp>
        <p:nvSpPr>
          <p:cNvPr id="11" name="TextBox 11"/>
          <p:cNvSpPr txBox="1"/>
          <p:nvPr/>
        </p:nvSpPr>
        <p:spPr>
          <a:xfrm>
            <a:off x="2096809" y="5181600"/>
            <a:ext cx="5448300" cy="876300"/>
          </a:xfrm>
          <a:prstGeom prst="rect">
            <a:avLst/>
          </a:prstGeom>
        </p:spPr>
        <p:txBody>
          <a:bodyPr lIns="0" tIns="0" rIns="0" bIns="0" rtlCol="0" anchor="t">
            <a:spAutoFit/>
          </a:bodyPr>
          <a:lstStyle/>
          <a:p>
            <a:pPr marL="0" lvl="0" indent="0" algn="ctr">
              <a:lnSpc>
                <a:spcPts val="5400"/>
              </a:lnSpc>
            </a:pPr>
            <a:r>
              <a:rPr lang="en-US" sz="6000" b="1" spc="-60">
                <a:solidFill>
                  <a:srgbClr val="D4B27E"/>
                </a:solidFill>
                <a:latin typeface="Nyutro Sans Bold"/>
                <a:ea typeface="Nyutro Sans Bold"/>
                <a:cs typeface="Nyutro Sans Bold"/>
                <a:sym typeface="Nyutro Sans Bold"/>
              </a:rPr>
              <a:t>Toplum</a:t>
            </a:r>
          </a:p>
        </p:txBody>
      </p:sp>
      <p:sp>
        <p:nvSpPr>
          <p:cNvPr id="12" name="TextBox 12"/>
          <p:cNvSpPr txBox="1"/>
          <p:nvPr/>
        </p:nvSpPr>
        <p:spPr>
          <a:xfrm>
            <a:off x="1453871" y="6076950"/>
            <a:ext cx="6888822" cy="1046087"/>
          </a:xfrm>
          <a:prstGeom prst="rect">
            <a:avLst/>
          </a:prstGeom>
        </p:spPr>
        <p:txBody>
          <a:bodyPr lIns="0" tIns="0" rIns="0" bIns="0" rtlCol="0" anchor="t">
            <a:spAutoFit/>
          </a:bodyPr>
          <a:lstStyle/>
          <a:p>
            <a:pPr marL="0" lvl="0" indent="0" algn="ctr">
              <a:lnSpc>
                <a:spcPts val="4012"/>
              </a:lnSpc>
              <a:spcBef>
                <a:spcPct val="0"/>
              </a:spcBef>
            </a:pPr>
            <a:r>
              <a:rPr lang="en-US" sz="2865" u="none" strike="noStrike">
                <a:solidFill>
                  <a:srgbClr val="D4B27E"/>
                </a:solidFill>
                <a:latin typeface="Nyutro Sans"/>
                <a:ea typeface="Nyutro Sans"/>
                <a:cs typeface="Nyutro Sans"/>
                <a:sym typeface="Nyutro Sans"/>
              </a:rPr>
              <a:t>Sadaka taşı, </a:t>
            </a:r>
            <a:r>
              <a:rPr lang="en-US" sz="2865" b="1" u="none" strike="noStrike">
                <a:solidFill>
                  <a:srgbClr val="D4B27E"/>
                </a:solidFill>
                <a:latin typeface="Nyutro Sans Bold"/>
                <a:ea typeface="Nyutro Sans Bold"/>
                <a:cs typeface="Nyutro Sans Bold"/>
                <a:sym typeface="Nyutro Sans Bold"/>
              </a:rPr>
              <a:t>toplum içindeki dayanışmayı</a:t>
            </a:r>
            <a:r>
              <a:rPr lang="en-US" sz="2865" u="none" strike="noStrike">
                <a:solidFill>
                  <a:srgbClr val="D4B27E"/>
                </a:solidFill>
                <a:latin typeface="Nyutro Sans"/>
                <a:ea typeface="Nyutro Sans"/>
                <a:cs typeface="Nyutro Sans"/>
                <a:sym typeface="Nyutro Sans"/>
              </a:rPr>
              <a:t> güçlendirir ve yardımlaşmayı teşvik eder.</a:t>
            </a:r>
          </a:p>
        </p:txBody>
      </p:sp>
      <p:sp>
        <p:nvSpPr>
          <p:cNvPr id="13" name="Freeform 13"/>
          <p:cNvSpPr/>
          <p:nvPr/>
        </p:nvSpPr>
        <p:spPr>
          <a:xfrm>
            <a:off x="3869306" y="379827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12507171" y="3798277"/>
            <a:ext cx="1903307" cy="899745"/>
          </a:xfrm>
          <a:custGeom>
            <a:avLst/>
            <a:gdLst/>
            <a:ahLst/>
            <a:cxnLst/>
            <a:rect l="l" t="t" r="r" b="b"/>
            <a:pathLst>
              <a:path w="1903307" h="899745">
                <a:moveTo>
                  <a:pt x="0" y="0"/>
                </a:moveTo>
                <a:lnTo>
                  <a:pt x="1903308" y="0"/>
                </a:lnTo>
                <a:lnTo>
                  <a:pt x="1903308"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A2E1F"/>
        </a:solidFill>
        <a:effectLst/>
      </p:bgPr>
    </p:bg>
    <p:spTree>
      <p:nvGrpSpPr>
        <p:cNvPr id="1" name=""/>
        <p:cNvGrpSpPr/>
        <p:nvPr/>
      </p:nvGrpSpPr>
      <p:grpSpPr>
        <a:xfrm>
          <a:off x="0" y="0"/>
          <a:ext cx="0" cy="0"/>
          <a:chOff x="0" y="0"/>
          <a:chExt cx="0" cy="0"/>
        </a:xfrm>
      </p:grpSpPr>
      <p:grpSp>
        <p:nvGrpSpPr>
          <p:cNvPr id="2" name="Group 2"/>
          <p:cNvGrpSpPr/>
          <p:nvPr/>
        </p:nvGrpSpPr>
        <p:grpSpPr>
          <a:xfrm>
            <a:off x="666750" y="2457450"/>
            <a:ext cx="8324850" cy="7162800"/>
            <a:chOff x="0" y="0"/>
            <a:chExt cx="2192553" cy="1886499"/>
          </a:xfrm>
        </p:grpSpPr>
        <p:sp>
          <p:nvSpPr>
            <p:cNvPr id="3" name="Freeform 3"/>
            <p:cNvSpPr/>
            <p:nvPr/>
          </p:nvSpPr>
          <p:spPr>
            <a:xfrm>
              <a:off x="0" y="0"/>
              <a:ext cx="2192553" cy="1886499"/>
            </a:xfrm>
            <a:custGeom>
              <a:avLst/>
              <a:gdLst/>
              <a:ahLst/>
              <a:cxnLst/>
              <a:rect l="l" t="t" r="r" b="b"/>
              <a:pathLst>
                <a:path w="2192553" h="1886499">
                  <a:moveTo>
                    <a:pt x="23249" y="0"/>
                  </a:moveTo>
                  <a:lnTo>
                    <a:pt x="2169304" y="0"/>
                  </a:lnTo>
                  <a:cubicBezTo>
                    <a:pt x="2182144" y="0"/>
                    <a:pt x="2192553" y="10409"/>
                    <a:pt x="2192553" y="23249"/>
                  </a:cubicBezTo>
                  <a:lnTo>
                    <a:pt x="2192553" y="1863249"/>
                  </a:lnTo>
                  <a:cubicBezTo>
                    <a:pt x="2192553" y="1876090"/>
                    <a:pt x="2182144" y="1886499"/>
                    <a:pt x="2169304" y="1886499"/>
                  </a:cubicBezTo>
                  <a:lnTo>
                    <a:pt x="23249" y="1886499"/>
                  </a:lnTo>
                  <a:cubicBezTo>
                    <a:pt x="10409" y="1886499"/>
                    <a:pt x="0" y="1876090"/>
                    <a:pt x="0" y="1863249"/>
                  </a:cubicBezTo>
                  <a:lnTo>
                    <a:pt x="0" y="23249"/>
                  </a:lnTo>
                  <a:cubicBezTo>
                    <a:pt x="0" y="10409"/>
                    <a:pt x="10409" y="0"/>
                    <a:pt x="23249" y="0"/>
                  </a:cubicBezTo>
                  <a:close/>
                </a:path>
              </a:pathLst>
            </a:custGeom>
            <a:solidFill>
              <a:srgbClr val="F1CD98"/>
            </a:solidFill>
            <a:ln cap="rnd">
              <a:noFill/>
              <a:prstDash val="solid"/>
              <a:round/>
            </a:ln>
          </p:spPr>
        </p:sp>
        <p:sp>
          <p:nvSpPr>
            <p:cNvPr id="4" name="TextBox 4"/>
            <p:cNvSpPr txBox="1"/>
            <p:nvPr/>
          </p:nvSpPr>
          <p:spPr>
            <a:xfrm>
              <a:off x="0" y="-9525"/>
              <a:ext cx="2192553" cy="1896024"/>
            </a:xfrm>
            <a:prstGeom prst="rect">
              <a:avLst/>
            </a:prstGeom>
          </p:spPr>
          <p:txBody>
            <a:bodyPr lIns="50800" tIns="50800" rIns="50800" bIns="50800" rtlCol="0" anchor="ctr"/>
            <a:lstStyle/>
            <a:p>
              <a:pPr marL="0" lvl="0" indent="0" algn="ctr">
                <a:lnSpc>
                  <a:spcPts val="2524"/>
                </a:lnSpc>
                <a:spcBef>
                  <a:spcPct val="0"/>
                </a:spcBef>
              </a:pPr>
              <a:endParaRPr/>
            </a:p>
          </p:txBody>
        </p:sp>
      </p:grpSp>
      <p:grpSp>
        <p:nvGrpSpPr>
          <p:cNvPr id="5" name="Group 5"/>
          <p:cNvGrpSpPr/>
          <p:nvPr/>
        </p:nvGrpSpPr>
        <p:grpSpPr>
          <a:xfrm>
            <a:off x="9296400" y="2457450"/>
            <a:ext cx="8324850" cy="7162800"/>
            <a:chOff x="0" y="0"/>
            <a:chExt cx="2192553" cy="1886499"/>
          </a:xfrm>
        </p:grpSpPr>
        <p:sp>
          <p:nvSpPr>
            <p:cNvPr id="6" name="Freeform 6"/>
            <p:cNvSpPr/>
            <p:nvPr/>
          </p:nvSpPr>
          <p:spPr>
            <a:xfrm>
              <a:off x="0" y="0"/>
              <a:ext cx="2192553" cy="1886499"/>
            </a:xfrm>
            <a:custGeom>
              <a:avLst/>
              <a:gdLst/>
              <a:ahLst/>
              <a:cxnLst/>
              <a:rect l="l" t="t" r="r" b="b"/>
              <a:pathLst>
                <a:path w="2192553" h="1886499">
                  <a:moveTo>
                    <a:pt x="23249" y="0"/>
                  </a:moveTo>
                  <a:lnTo>
                    <a:pt x="2169304" y="0"/>
                  </a:lnTo>
                  <a:cubicBezTo>
                    <a:pt x="2182144" y="0"/>
                    <a:pt x="2192553" y="10409"/>
                    <a:pt x="2192553" y="23249"/>
                  </a:cubicBezTo>
                  <a:lnTo>
                    <a:pt x="2192553" y="1863249"/>
                  </a:lnTo>
                  <a:cubicBezTo>
                    <a:pt x="2192553" y="1876090"/>
                    <a:pt x="2182144" y="1886499"/>
                    <a:pt x="2169304" y="1886499"/>
                  </a:cubicBezTo>
                  <a:lnTo>
                    <a:pt x="23249" y="1886499"/>
                  </a:lnTo>
                  <a:cubicBezTo>
                    <a:pt x="10409" y="1886499"/>
                    <a:pt x="0" y="1876090"/>
                    <a:pt x="0" y="1863249"/>
                  </a:cubicBezTo>
                  <a:lnTo>
                    <a:pt x="0" y="23249"/>
                  </a:lnTo>
                  <a:cubicBezTo>
                    <a:pt x="0" y="10409"/>
                    <a:pt x="10409" y="0"/>
                    <a:pt x="23249" y="0"/>
                  </a:cubicBezTo>
                  <a:close/>
                </a:path>
              </a:pathLst>
            </a:custGeom>
            <a:solidFill>
              <a:srgbClr val="F1CD98"/>
            </a:solidFill>
            <a:ln cap="rnd">
              <a:noFill/>
              <a:prstDash val="solid"/>
              <a:round/>
            </a:ln>
          </p:spPr>
        </p:sp>
        <p:sp>
          <p:nvSpPr>
            <p:cNvPr id="7" name="TextBox 7"/>
            <p:cNvSpPr txBox="1"/>
            <p:nvPr/>
          </p:nvSpPr>
          <p:spPr>
            <a:xfrm>
              <a:off x="0" y="-9525"/>
              <a:ext cx="2192553" cy="1896024"/>
            </a:xfrm>
            <a:prstGeom prst="rect">
              <a:avLst/>
            </a:prstGeom>
          </p:spPr>
          <p:txBody>
            <a:bodyPr lIns="50800" tIns="50800" rIns="50800" bIns="50800" rtlCol="0" anchor="ctr"/>
            <a:lstStyle/>
            <a:p>
              <a:pPr marL="0" lvl="0" indent="0" algn="ctr">
                <a:lnSpc>
                  <a:spcPts val="2524"/>
                </a:lnSpc>
                <a:spcBef>
                  <a:spcPct val="0"/>
                </a:spcBef>
              </a:pPr>
              <a:endParaRPr/>
            </a:p>
          </p:txBody>
        </p:sp>
      </p:grpSp>
      <p:sp>
        <p:nvSpPr>
          <p:cNvPr id="8" name="TextBox 8"/>
          <p:cNvSpPr txBox="1"/>
          <p:nvPr/>
        </p:nvSpPr>
        <p:spPr>
          <a:xfrm>
            <a:off x="666750" y="742950"/>
            <a:ext cx="16954500" cy="1295400"/>
          </a:xfrm>
          <a:prstGeom prst="rect">
            <a:avLst/>
          </a:prstGeom>
        </p:spPr>
        <p:txBody>
          <a:bodyPr lIns="0" tIns="0" rIns="0" bIns="0" rtlCol="0" anchor="t">
            <a:spAutoFit/>
          </a:bodyPr>
          <a:lstStyle/>
          <a:p>
            <a:pPr marL="0" lvl="0" indent="0" algn="ctr">
              <a:lnSpc>
                <a:spcPts val="8100"/>
              </a:lnSpc>
              <a:spcBef>
                <a:spcPct val="0"/>
              </a:spcBef>
            </a:pPr>
            <a:r>
              <a:rPr lang="en-US" sz="9000" b="1" u="none" strike="noStrike" spc="-89">
                <a:solidFill>
                  <a:srgbClr val="D4B27E"/>
                </a:solidFill>
                <a:latin typeface="Nyutro Sans Heavy"/>
                <a:ea typeface="Nyutro Sans Heavy"/>
                <a:cs typeface="Nyutro Sans Heavy"/>
                <a:sym typeface="Nyutro Sans Heavy"/>
              </a:rPr>
              <a:t>Ekonomik Faydalar</a:t>
            </a:r>
          </a:p>
        </p:txBody>
      </p:sp>
      <p:grpSp>
        <p:nvGrpSpPr>
          <p:cNvPr id="9" name="Group 9"/>
          <p:cNvGrpSpPr/>
          <p:nvPr/>
        </p:nvGrpSpPr>
        <p:grpSpPr>
          <a:xfrm>
            <a:off x="10734675" y="5143500"/>
            <a:ext cx="5448300" cy="1860550"/>
            <a:chOff x="0" y="0"/>
            <a:chExt cx="7264400" cy="2480733"/>
          </a:xfrm>
        </p:grpSpPr>
        <p:sp>
          <p:nvSpPr>
            <p:cNvPr id="10" name="TextBox 10"/>
            <p:cNvSpPr txBox="1"/>
            <p:nvPr/>
          </p:nvSpPr>
          <p:spPr>
            <a:xfrm>
              <a:off x="0" y="38100"/>
              <a:ext cx="7264400" cy="1181100"/>
            </a:xfrm>
            <a:prstGeom prst="rect">
              <a:avLst/>
            </a:prstGeom>
          </p:spPr>
          <p:txBody>
            <a:bodyPr lIns="0" tIns="0" rIns="0" bIns="0" rtlCol="0" anchor="t">
              <a:spAutoFit/>
            </a:bodyPr>
            <a:lstStyle/>
            <a:p>
              <a:pPr marL="0" lvl="0" indent="0" algn="ctr">
                <a:lnSpc>
                  <a:spcPts val="5400"/>
                </a:lnSpc>
              </a:pPr>
              <a:r>
                <a:rPr lang="en-US" sz="6000" b="1" spc="-60">
                  <a:solidFill>
                    <a:srgbClr val="A57E49"/>
                  </a:solidFill>
                  <a:latin typeface="Nyutro Sans Bold"/>
                  <a:ea typeface="Nyutro Sans Bold"/>
                  <a:cs typeface="Nyutro Sans Bold"/>
                  <a:sym typeface="Nyutro Sans Bold"/>
                </a:rPr>
                <a:t>Sosyal Uyum</a:t>
              </a:r>
            </a:p>
          </p:txBody>
        </p:sp>
        <p:sp>
          <p:nvSpPr>
            <p:cNvPr id="11" name="TextBox 11"/>
            <p:cNvSpPr txBox="1"/>
            <p:nvPr/>
          </p:nvSpPr>
          <p:spPr>
            <a:xfrm>
              <a:off x="0" y="1301750"/>
              <a:ext cx="7264400" cy="11789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6B5843"/>
                  </a:solidFill>
                  <a:latin typeface="Nyutro Sans"/>
                  <a:ea typeface="Nyutro Sans"/>
                  <a:cs typeface="Nyutro Sans"/>
                  <a:sym typeface="Nyutro Sans"/>
                </a:rPr>
                <a:t>Yardımlaşma ve dayanışma, </a:t>
              </a:r>
              <a:r>
                <a:rPr lang="en-US" sz="2499" b="1" u="none" strike="noStrike">
                  <a:solidFill>
                    <a:srgbClr val="6B5843"/>
                  </a:solidFill>
                  <a:latin typeface="Nyutro Sans Bold"/>
                  <a:ea typeface="Nyutro Sans Bold"/>
                  <a:cs typeface="Nyutro Sans Bold"/>
                  <a:sym typeface="Nyutro Sans Bold"/>
                </a:rPr>
                <a:t>toplumsal barış</a:t>
              </a:r>
              <a:r>
                <a:rPr lang="en-US" sz="2499" u="none" strike="noStrike">
                  <a:solidFill>
                    <a:srgbClr val="6B5843"/>
                  </a:solidFill>
                  <a:latin typeface="Nyutro Sans"/>
                  <a:ea typeface="Nyutro Sans"/>
                  <a:cs typeface="Nyutro Sans"/>
                  <a:sym typeface="Nyutro Sans"/>
                </a:rPr>
                <a:t> ve huzuru destekler.</a:t>
              </a:r>
            </a:p>
          </p:txBody>
        </p:sp>
      </p:grpSp>
      <p:grpSp>
        <p:nvGrpSpPr>
          <p:cNvPr id="12" name="Group 12"/>
          <p:cNvGrpSpPr/>
          <p:nvPr/>
        </p:nvGrpSpPr>
        <p:grpSpPr>
          <a:xfrm>
            <a:off x="2096809" y="5143500"/>
            <a:ext cx="5448300" cy="1860550"/>
            <a:chOff x="0" y="0"/>
            <a:chExt cx="7264400" cy="2480733"/>
          </a:xfrm>
        </p:grpSpPr>
        <p:sp>
          <p:nvSpPr>
            <p:cNvPr id="13" name="TextBox 13"/>
            <p:cNvSpPr txBox="1"/>
            <p:nvPr/>
          </p:nvSpPr>
          <p:spPr>
            <a:xfrm>
              <a:off x="0" y="38100"/>
              <a:ext cx="7264400" cy="1181100"/>
            </a:xfrm>
            <a:prstGeom prst="rect">
              <a:avLst/>
            </a:prstGeom>
          </p:spPr>
          <p:txBody>
            <a:bodyPr lIns="0" tIns="0" rIns="0" bIns="0" rtlCol="0" anchor="t">
              <a:spAutoFit/>
            </a:bodyPr>
            <a:lstStyle/>
            <a:p>
              <a:pPr marL="0" lvl="0" indent="0" algn="ctr">
                <a:lnSpc>
                  <a:spcPts val="5400"/>
                </a:lnSpc>
              </a:pPr>
              <a:r>
                <a:rPr lang="en-US" sz="6000" b="1" spc="-60">
                  <a:solidFill>
                    <a:srgbClr val="A57E49"/>
                  </a:solidFill>
                  <a:latin typeface="Nyutro Sans Bold"/>
                  <a:ea typeface="Nyutro Sans Bold"/>
                  <a:cs typeface="Nyutro Sans Bold"/>
                  <a:sym typeface="Nyutro Sans Bold"/>
                </a:rPr>
                <a:t>Eşitlik</a:t>
              </a:r>
            </a:p>
          </p:txBody>
        </p:sp>
        <p:sp>
          <p:nvSpPr>
            <p:cNvPr id="14" name="TextBox 14"/>
            <p:cNvSpPr txBox="1"/>
            <p:nvPr/>
          </p:nvSpPr>
          <p:spPr>
            <a:xfrm>
              <a:off x="0" y="1301750"/>
              <a:ext cx="7264400" cy="1178983"/>
            </a:xfrm>
            <a:prstGeom prst="rect">
              <a:avLst/>
            </a:prstGeom>
          </p:spPr>
          <p:txBody>
            <a:bodyPr lIns="0" tIns="0" rIns="0" bIns="0" rtlCol="0" anchor="t">
              <a:spAutoFit/>
            </a:bodyPr>
            <a:lstStyle/>
            <a:p>
              <a:pPr marL="0" lvl="0" indent="0" algn="ctr">
                <a:lnSpc>
                  <a:spcPts val="3499"/>
                </a:lnSpc>
                <a:spcBef>
                  <a:spcPct val="0"/>
                </a:spcBef>
              </a:pPr>
              <a:r>
                <a:rPr lang="en-US" sz="2499" u="none" strike="noStrike">
                  <a:solidFill>
                    <a:srgbClr val="6B5843"/>
                  </a:solidFill>
                  <a:latin typeface="Nyutro Sans"/>
                  <a:ea typeface="Nyutro Sans"/>
                  <a:cs typeface="Nyutro Sans"/>
                  <a:sym typeface="Nyutro Sans"/>
                </a:rPr>
                <a:t>Sadaka taşı, </a:t>
              </a:r>
              <a:r>
                <a:rPr lang="en-US" sz="2499" b="1" u="none" strike="noStrike">
                  <a:solidFill>
                    <a:srgbClr val="6B5843"/>
                  </a:solidFill>
                  <a:latin typeface="Nyutro Sans Bold"/>
                  <a:ea typeface="Nyutro Sans Bold"/>
                  <a:cs typeface="Nyutro Sans Bold"/>
                  <a:sym typeface="Nyutro Sans Bold"/>
                </a:rPr>
                <a:t>zenginliği paylaşarak</a:t>
              </a:r>
              <a:r>
                <a:rPr lang="en-US" sz="2499" u="none" strike="noStrike">
                  <a:solidFill>
                    <a:srgbClr val="6B5843"/>
                  </a:solidFill>
                  <a:latin typeface="Nyutro Sans"/>
                  <a:ea typeface="Nyutro Sans"/>
                  <a:cs typeface="Nyutro Sans"/>
                  <a:sym typeface="Nyutro Sans"/>
                </a:rPr>
                <a:t> toplumda adalet ve eşitlik sağlar.</a:t>
              </a:r>
            </a:p>
          </p:txBody>
        </p:sp>
      </p:grpSp>
      <p:sp>
        <p:nvSpPr>
          <p:cNvPr id="15" name="Freeform 15"/>
          <p:cNvSpPr/>
          <p:nvPr/>
        </p:nvSpPr>
        <p:spPr>
          <a:xfrm>
            <a:off x="3869306" y="379827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6" name="Freeform 16"/>
          <p:cNvSpPr/>
          <p:nvPr/>
        </p:nvSpPr>
        <p:spPr>
          <a:xfrm>
            <a:off x="12507171" y="3798277"/>
            <a:ext cx="1903307" cy="899745"/>
          </a:xfrm>
          <a:custGeom>
            <a:avLst/>
            <a:gdLst/>
            <a:ahLst/>
            <a:cxnLst/>
            <a:rect l="l" t="t" r="r" b="b"/>
            <a:pathLst>
              <a:path w="1903307" h="899745">
                <a:moveTo>
                  <a:pt x="0" y="0"/>
                </a:moveTo>
                <a:lnTo>
                  <a:pt x="1903308" y="0"/>
                </a:lnTo>
                <a:lnTo>
                  <a:pt x="1903308"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41907"/>
        </a:solidFill>
        <a:effectLst/>
      </p:bgPr>
    </p:bg>
    <p:spTree>
      <p:nvGrpSpPr>
        <p:cNvPr id="1" name=""/>
        <p:cNvGrpSpPr/>
        <p:nvPr/>
      </p:nvGrpSpPr>
      <p:grpSpPr>
        <a:xfrm>
          <a:off x="0" y="0"/>
          <a:ext cx="0" cy="0"/>
          <a:chOff x="0" y="0"/>
          <a:chExt cx="0" cy="0"/>
        </a:xfrm>
      </p:grpSpPr>
      <p:grpSp>
        <p:nvGrpSpPr>
          <p:cNvPr id="2" name="Group 2"/>
          <p:cNvGrpSpPr/>
          <p:nvPr/>
        </p:nvGrpSpPr>
        <p:grpSpPr>
          <a:xfrm>
            <a:off x="9296400" y="-588019"/>
            <a:ext cx="9442510" cy="7522219"/>
            <a:chOff x="0" y="0"/>
            <a:chExt cx="3546545" cy="2825296"/>
          </a:xfrm>
        </p:grpSpPr>
        <p:sp>
          <p:nvSpPr>
            <p:cNvPr id="3" name="Freeform 3"/>
            <p:cNvSpPr/>
            <p:nvPr/>
          </p:nvSpPr>
          <p:spPr>
            <a:xfrm>
              <a:off x="0" y="0"/>
              <a:ext cx="3546545" cy="2825296"/>
            </a:xfrm>
            <a:custGeom>
              <a:avLst/>
              <a:gdLst/>
              <a:ahLst/>
              <a:cxnLst/>
              <a:rect l="l" t="t" r="r" b="b"/>
              <a:pathLst>
                <a:path w="3546545" h="2825296">
                  <a:moveTo>
                    <a:pt x="3522299" y="155341"/>
                  </a:moveTo>
                  <a:lnTo>
                    <a:pt x="3411722" y="31728"/>
                  </a:lnTo>
                  <a:cubicBezTo>
                    <a:pt x="3393661" y="11539"/>
                    <a:pt x="3367855" y="0"/>
                    <a:pt x="3340767" y="0"/>
                  </a:cubicBezTo>
                  <a:lnTo>
                    <a:pt x="205781" y="10"/>
                  </a:lnTo>
                  <a:cubicBezTo>
                    <a:pt x="178693" y="10"/>
                    <a:pt x="152888" y="11550"/>
                    <a:pt x="134828" y="31739"/>
                  </a:cubicBezTo>
                  <a:lnTo>
                    <a:pt x="24247" y="155355"/>
                  </a:lnTo>
                  <a:cubicBezTo>
                    <a:pt x="8634" y="172808"/>
                    <a:pt x="1" y="195404"/>
                    <a:pt x="0" y="218821"/>
                  </a:cubicBezTo>
                  <a:lnTo>
                    <a:pt x="0" y="2606484"/>
                  </a:lnTo>
                  <a:cubicBezTo>
                    <a:pt x="0" y="2629903"/>
                    <a:pt x="8633" y="2652501"/>
                    <a:pt x="24247" y="2669956"/>
                  </a:cubicBezTo>
                  <a:lnTo>
                    <a:pt x="134824" y="2793567"/>
                  </a:lnTo>
                  <a:cubicBezTo>
                    <a:pt x="152885" y="2813756"/>
                    <a:pt x="178690" y="2825296"/>
                    <a:pt x="205778" y="2825296"/>
                  </a:cubicBezTo>
                  <a:lnTo>
                    <a:pt x="3340764" y="2825287"/>
                  </a:lnTo>
                  <a:cubicBezTo>
                    <a:pt x="3367852" y="2825287"/>
                    <a:pt x="3393657" y="2813747"/>
                    <a:pt x="3411717" y="2793558"/>
                  </a:cubicBezTo>
                  <a:lnTo>
                    <a:pt x="3522298" y="2669943"/>
                  </a:lnTo>
                  <a:cubicBezTo>
                    <a:pt x="3537912" y="2652488"/>
                    <a:pt x="3546545" y="2629890"/>
                    <a:pt x="3546545" y="2606471"/>
                  </a:cubicBezTo>
                  <a:lnTo>
                    <a:pt x="3546545" y="218812"/>
                  </a:lnTo>
                  <a:cubicBezTo>
                    <a:pt x="3546545" y="195393"/>
                    <a:pt x="3537913" y="172796"/>
                    <a:pt x="3522299" y="155341"/>
                  </a:cubicBezTo>
                  <a:close/>
                </a:path>
              </a:pathLst>
            </a:custGeom>
            <a:blipFill>
              <a:blip r:embed="rId2"/>
              <a:stretch>
                <a:fillRect t="-12764" b="-12764"/>
              </a:stretch>
            </a:blipFill>
          </p:spPr>
        </p:sp>
      </p:grpSp>
      <p:sp>
        <p:nvSpPr>
          <p:cNvPr id="4" name="TextBox 4"/>
          <p:cNvSpPr txBox="1"/>
          <p:nvPr/>
        </p:nvSpPr>
        <p:spPr>
          <a:xfrm>
            <a:off x="666750" y="742950"/>
            <a:ext cx="7664082" cy="1295400"/>
          </a:xfrm>
          <a:prstGeom prst="rect">
            <a:avLst/>
          </a:prstGeom>
        </p:spPr>
        <p:txBody>
          <a:bodyPr lIns="0" tIns="0" rIns="0" bIns="0" rtlCol="0" anchor="t">
            <a:spAutoFit/>
          </a:bodyPr>
          <a:lstStyle/>
          <a:p>
            <a:pPr marL="0" lvl="0" indent="0" algn="l">
              <a:lnSpc>
                <a:spcPts val="8100"/>
              </a:lnSpc>
              <a:spcBef>
                <a:spcPct val="0"/>
              </a:spcBef>
            </a:pPr>
            <a:r>
              <a:rPr lang="en-US" sz="9000" b="1" spc="-89">
                <a:solidFill>
                  <a:srgbClr val="D4B27E"/>
                </a:solidFill>
                <a:latin typeface="Nyutro Sans Heavy"/>
                <a:ea typeface="Nyutro Sans Heavy"/>
                <a:cs typeface="Nyutro Sans Heavy"/>
                <a:sym typeface="Nyutro Sans Heavy"/>
              </a:rPr>
              <a:t>Sadaka Kutusu</a:t>
            </a:r>
          </a:p>
        </p:txBody>
      </p:sp>
      <p:sp>
        <p:nvSpPr>
          <p:cNvPr id="5" name="TextBox 5"/>
          <p:cNvSpPr txBox="1"/>
          <p:nvPr/>
        </p:nvSpPr>
        <p:spPr>
          <a:xfrm>
            <a:off x="666750" y="2361471"/>
            <a:ext cx="8298028" cy="4270926"/>
          </a:xfrm>
          <a:prstGeom prst="rect">
            <a:avLst/>
          </a:prstGeom>
        </p:spPr>
        <p:txBody>
          <a:bodyPr lIns="0" tIns="0" rIns="0" bIns="0" rtlCol="0" anchor="t">
            <a:spAutoFit/>
          </a:bodyPr>
          <a:lstStyle/>
          <a:p>
            <a:pPr marL="0" lvl="0" indent="0" algn="l">
              <a:lnSpc>
                <a:spcPts val="4217"/>
              </a:lnSpc>
            </a:pPr>
            <a:r>
              <a:rPr lang="en-US" sz="3012">
                <a:solidFill>
                  <a:srgbClr val="D4B27E"/>
                </a:solidFill>
                <a:latin typeface="Nyutro Sans"/>
                <a:ea typeface="Nyutro Sans"/>
                <a:cs typeface="Nyutro Sans"/>
                <a:sym typeface="Nyutro Sans"/>
              </a:rPr>
              <a:t>Günümüzde sadaka taşları yerini sadaka kutularına bıraktı. Çünkü günümüzde hırsızlar ihtiyaçları olmamalarına rağmen buradaki paraları çalıyorlardı. Günümüzdeki sadaka kutuları tamamen kapalıdır, üst tarafında bir delik bulunur. Bu delikten içeri para atılır. Kutu dolduğunda anahtar/tornavida ile açılır ve para yardım kuruluşlarına gider.</a:t>
            </a:r>
          </a:p>
        </p:txBody>
      </p:sp>
      <p:sp>
        <p:nvSpPr>
          <p:cNvPr id="6" name="TextBox 6"/>
          <p:cNvSpPr txBox="1"/>
          <p:nvPr/>
        </p:nvSpPr>
        <p:spPr>
          <a:xfrm>
            <a:off x="9775432" y="7196367"/>
            <a:ext cx="8298028" cy="3215022"/>
          </a:xfrm>
          <a:prstGeom prst="rect">
            <a:avLst/>
          </a:prstGeom>
        </p:spPr>
        <p:txBody>
          <a:bodyPr lIns="0" tIns="0" rIns="0" bIns="0" rtlCol="0" anchor="t">
            <a:spAutoFit/>
          </a:bodyPr>
          <a:lstStyle/>
          <a:p>
            <a:pPr algn="l">
              <a:lnSpc>
                <a:spcPts val="4217"/>
              </a:lnSpc>
            </a:pPr>
            <a:r>
              <a:rPr lang="en-US" sz="3012">
                <a:solidFill>
                  <a:srgbClr val="D4B27E"/>
                </a:solidFill>
                <a:latin typeface="Nyutro Sans"/>
                <a:ea typeface="Nyutro Sans"/>
                <a:cs typeface="Nyutro Sans"/>
                <a:sym typeface="Nyutro Sans"/>
              </a:rPr>
              <a:t>    Ama hala bazı yerlerde rastlamak mümkün.                 Bunlardan bazıları:</a:t>
            </a:r>
          </a:p>
          <a:p>
            <a:pPr marL="650375" lvl="1" indent="-325187" algn="l">
              <a:lnSpc>
                <a:spcPts val="4217"/>
              </a:lnSpc>
              <a:buFont typeface="Arial"/>
              <a:buChar char="•"/>
            </a:pPr>
            <a:r>
              <a:rPr lang="en-US" sz="3012">
                <a:solidFill>
                  <a:srgbClr val="D4B27E"/>
                </a:solidFill>
                <a:latin typeface="Nyutro Sans"/>
                <a:ea typeface="Nyutro Sans"/>
                <a:cs typeface="Nyutro Sans"/>
                <a:sym typeface="Nyutro Sans"/>
              </a:rPr>
              <a:t>Üsküdar İmrahor Camii</a:t>
            </a:r>
          </a:p>
          <a:p>
            <a:pPr marL="650375" lvl="1" indent="-325187" algn="l">
              <a:lnSpc>
                <a:spcPts val="4217"/>
              </a:lnSpc>
              <a:buFont typeface="Arial"/>
              <a:buChar char="•"/>
            </a:pPr>
            <a:r>
              <a:rPr lang="en-US" sz="3012">
                <a:solidFill>
                  <a:srgbClr val="D4B27E"/>
                </a:solidFill>
                <a:latin typeface="Nyutro Sans"/>
                <a:ea typeface="Nyutro Sans"/>
                <a:cs typeface="Nyutro Sans"/>
                <a:sym typeface="Nyutro Sans"/>
              </a:rPr>
              <a:t>Fatih Camii Haziresi</a:t>
            </a:r>
          </a:p>
          <a:p>
            <a:pPr marL="650375" lvl="1" indent="-325187" algn="l">
              <a:lnSpc>
                <a:spcPts val="4217"/>
              </a:lnSpc>
              <a:buFont typeface="Arial"/>
              <a:buChar char="•"/>
            </a:pPr>
            <a:r>
              <a:rPr lang="en-US" sz="3012">
                <a:solidFill>
                  <a:srgbClr val="D4B27E"/>
                </a:solidFill>
                <a:latin typeface="Nyutro Sans"/>
                <a:ea typeface="Nyutro Sans"/>
                <a:cs typeface="Nyutro Sans"/>
                <a:sym typeface="Nyutro Sans"/>
              </a:rPr>
              <a:t>Nuruosmaniye Camii</a:t>
            </a:r>
          </a:p>
          <a:p>
            <a:pPr marL="0" lvl="0" indent="0" algn="l">
              <a:lnSpc>
                <a:spcPts val="4217"/>
              </a:lnSpc>
            </a:pPr>
            <a:endParaRPr lang="en-US" sz="3012">
              <a:solidFill>
                <a:srgbClr val="D4B27E"/>
              </a:solidFill>
              <a:latin typeface="Nyutro Sans"/>
              <a:ea typeface="Nyutro Sans"/>
              <a:cs typeface="Nyutro Sans"/>
              <a:sym typeface="Nyutro Sans"/>
            </a:endParaRPr>
          </a:p>
        </p:txBody>
      </p:sp>
    </p:spTree>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A2E1F"/>
        </a:solidFill>
        <a:effectLst/>
      </p:bgPr>
    </p:bg>
    <p:spTree>
      <p:nvGrpSpPr>
        <p:cNvPr id="1" name=""/>
        <p:cNvGrpSpPr/>
        <p:nvPr/>
      </p:nvGrpSpPr>
      <p:grpSpPr>
        <a:xfrm>
          <a:off x="0" y="0"/>
          <a:ext cx="0" cy="0"/>
          <a:chOff x="0" y="0"/>
          <a:chExt cx="0" cy="0"/>
        </a:xfrm>
      </p:grpSpPr>
      <p:sp>
        <p:nvSpPr>
          <p:cNvPr id="2" name="TextBox 2"/>
          <p:cNvSpPr txBox="1"/>
          <p:nvPr/>
        </p:nvSpPr>
        <p:spPr>
          <a:xfrm>
            <a:off x="666750" y="742950"/>
            <a:ext cx="14077950" cy="1295400"/>
          </a:xfrm>
          <a:prstGeom prst="rect">
            <a:avLst/>
          </a:prstGeom>
        </p:spPr>
        <p:txBody>
          <a:bodyPr lIns="0" tIns="0" rIns="0" bIns="0" rtlCol="0" anchor="t">
            <a:spAutoFit/>
          </a:bodyPr>
          <a:lstStyle/>
          <a:p>
            <a:pPr marL="0" lvl="0" indent="0" algn="l">
              <a:lnSpc>
                <a:spcPts val="8100"/>
              </a:lnSpc>
              <a:spcBef>
                <a:spcPct val="0"/>
              </a:spcBef>
            </a:pPr>
            <a:r>
              <a:rPr lang="en-US" sz="9000" b="1" u="none" strike="noStrike" spc="-89">
                <a:solidFill>
                  <a:srgbClr val="D4B27E"/>
                </a:solidFill>
                <a:latin typeface="Nyutro Sans Heavy"/>
                <a:ea typeface="Nyutro Sans Heavy"/>
                <a:cs typeface="Nyutro Sans Heavy"/>
                <a:sym typeface="Nyutro Sans Heavy"/>
              </a:rPr>
              <a:t>Sadaka Taşı Tarihçesi</a:t>
            </a:r>
          </a:p>
        </p:txBody>
      </p:sp>
      <p:sp>
        <p:nvSpPr>
          <p:cNvPr id="3" name="TextBox 3"/>
          <p:cNvSpPr txBox="1"/>
          <p:nvPr/>
        </p:nvSpPr>
        <p:spPr>
          <a:xfrm>
            <a:off x="666750" y="4267200"/>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spc="-60">
                <a:solidFill>
                  <a:srgbClr val="D4B27E"/>
                </a:solidFill>
                <a:latin typeface="Nyutro Sans Heavy"/>
                <a:ea typeface="Nyutro Sans Heavy"/>
                <a:cs typeface="Nyutro Sans Heavy"/>
                <a:sym typeface="Nyutro Sans Heavy"/>
              </a:rPr>
              <a:t>1475</a:t>
            </a:r>
          </a:p>
        </p:txBody>
      </p:sp>
      <p:sp>
        <p:nvSpPr>
          <p:cNvPr id="4" name="TextBox 4"/>
          <p:cNvSpPr txBox="1"/>
          <p:nvPr/>
        </p:nvSpPr>
        <p:spPr>
          <a:xfrm>
            <a:off x="666750" y="6838950"/>
            <a:ext cx="4010025" cy="469900"/>
          </a:xfrm>
          <a:prstGeom prst="rect">
            <a:avLst/>
          </a:prstGeom>
        </p:spPr>
        <p:txBody>
          <a:bodyPr lIns="0" tIns="0" rIns="0" bIns="0" rtlCol="0" anchor="t">
            <a:spAutoFit/>
          </a:bodyPr>
          <a:lstStyle/>
          <a:p>
            <a:pPr marL="0" lvl="0" indent="0" algn="l">
              <a:lnSpc>
                <a:spcPts val="3499"/>
              </a:lnSpc>
              <a:spcBef>
                <a:spcPct val="0"/>
              </a:spcBef>
            </a:pPr>
            <a:r>
              <a:rPr lang="en-US" sz="2499" u="none" strike="noStrike">
                <a:solidFill>
                  <a:srgbClr val="D4B27E"/>
                </a:solidFill>
                <a:latin typeface="Nyutro Sans"/>
                <a:ea typeface="Nyutro Sans"/>
                <a:cs typeface="Nyutro Sans"/>
                <a:sym typeface="Nyutro Sans"/>
              </a:rPr>
              <a:t>İlk uygulama başlatıldı.</a:t>
            </a:r>
          </a:p>
        </p:txBody>
      </p:sp>
      <p:sp>
        <p:nvSpPr>
          <p:cNvPr id="5" name="TextBox 5"/>
          <p:cNvSpPr txBox="1"/>
          <p:nvPr/>
        </p:nvSpPr>
        <p:spPr>
          <a:xfrm>
            <a:off x="4981575" y="4267200"/>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D4B27E"/>
                </a:solidFill>
                <a:latin typeface="Nyutro Sans Heavy"/>
                <a:ea typeface="Nyutro Sans Heavy"/>
                <a:cs typeface="Nyutro Sans Heavy"/>
                <a:sym typeface="Nyutro Sans Heavy"/>
              </a:rPr>
              <a:t>1538</a:t>
            </a:r>
          </a:p>
        </p:txBody>
      </p:sp>
      <p:sp>
        <p:nvSpPr>
          <p:cNvPr id="6" name="TextBox 6"/>
          <p:cNvSpPr txBox="1"/>
          <p:nvPr/>
        </p:nvSpPr>
        <p:spPr>
          <a:xfrm>
            <a:off x="4981575" y="6838950"/>
            <a:ext cx="4010025" cy="469900"/>
          </a:xfrm>
          <a:prstGeom prst="rect">
            <a:avLst/>
          </a:prstGeom>
        </p:spPr>
        <p:txBody>
          <a:bodyPr lIns="0" tIns="0" rIns="0" bIns="0" rtlCol="0" anchor="t">
            <a:spAutoFit/>
          </a:bodyPr>
          <a:lstStyle/>
          <a:p>
            <a:pPr marL="0" lvl="0" indent="0" algn="l">
              <a:lnSpc>
                <a:spcPts val="3499"/>
              </a:lnSpc>
              <a:spcBef>
                <a:spcPct val="0"/>
              </a:spcBef>
            </a:pPr>
            <a:r>
              <a:rPr lang="en-US" sz="2499" u="none" strike="noStrike">
                <a:solidFill>
                  <a:srgbClr val="D4B27E"/>
                </a:solidFill>
                <a:latin typeface="Nyutro Sans"/>
                <a:ea typeface="Nyutro Sans"/>
                <a:cs typeface="Nyutro Sans"/>
                <a:sym typeface="Nyutro Sans"/>
              </a:rPr>
              <a:t>Yaygınlaşma dönemine girildi.</a:t>
            </a:r>
          </a:p>
        </p:txBody>
      </p:sp>
      <p:sp>
        <p:nvSpPr>
          <p:cNvPr id="7" name="TextBox 7"/>
          <p:cNvSpPr txBox="1"/>
          <p:nvPr/>
        </p:nvSpPr>
        <p:spPr>
          <a:xfrm>
            <a:off x="9296400" y="4267200"/>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D4B27E"/>
                </a:solidFill>
                <a:latin typeface="Nyutro Sans Heavy"/>
                <a:ea typeface="Nyutro Sans Heavy"/>
                <a:cs typeface="Nyutro Sans Heavy"/>
                <a:sym typeface="Nyutro Sans Heavy"/>
              </a:rPr>
              <a:t>1900'ler</a:t>
            </a:r>
          </a:p>
        </p:txBody>
      </p:sp>
      <p:sp>
        <p:nvSpPr>
          <p:cNvPr id="8" name="TextBox 8"/>
          <p:cNvSpPr txBox="1"/>
          <p:nvPr/>
        </p:nvSpPr>
        <p:spPr>
          <a:xfrm>
            <a:off x="13611225" y="4267200"/>
            <a:ext cx="4010025" cy="876300"/>
          </a:xfrm>
          <a:prstGeom prst="rect">
            <a:avLst/>
          </a:prstGeom>
        </p:spPr>
        <p:txBody>
          <a:bodyPr lIns="0" tIns="0" rIns="0" bIns="0" rtlCol="0" anchor="t">
            <a:spAutoFit/>
          </a:bodyPr>
          <a:lstStyle/>
          <a:p>
            <a:pPr marL="0" lvl="0" indent="0" algn="l">
              <a:lnSpc>
                <a:spcPts val="5400"/>
              </a:lnSpc>
              <a:spcBef>
                <a:spcPct val="0"/>
              </a:spcBef>
            </a:pPr>
            <a:r>
              <a:rPr lang="en-US" sz="6000" b="1" u="none" strike="noStrike" spc="-60">
                <a:solidFill>
                  <a:srgbClr val="D4B27E"/>
                </a:solidFill>
                <a:latin typeface="Nyutro Sans Heavy"/>
                <a:ea typeface="Nyutro Sans Heavy"/>
                <a:cs typeface="Nyutro Sans Heavy"/>
                <a:sym typeface="Nyutro Sans Heavy"/>
              </a:rPr>
              <a:t>2000'ler</a:t>
            </a:r>
          </a:p>
        </p:txBody>
      </p:sp>
      <p:sp>
        <p:nvSpPr>
          <p:cNvPr id="9" name="TextBox 9"/>
          <p:cNvSpPr txBox="1"/>
          <p:nvPr/>
        </p:nvSpPr>
        <p:spPr>
          <a:xfrm>
            <a:off x="9296400" y="6838950"/>
            <a:ext cx="4010025" cy="469900"/>
          </a:xfrm>
          <a:prstGeom prst="rect">
            <a:avLst/>
          </a:prstGeom>
        </p:spPr>
        <p:txBody>
          <a:bodyPr lIns="0" tIns="0" rIns="0" bIns="0" rtlCol="0" anchor="t">
            <a:spAutoFit/>
          </a:bodyPr>
          <a:lstStyle/>
          <a:p>
            <a:pPr marL="0" lvl="0" indent="0" algn="l">
              <a:lnSpc>
                <a:spcPts val="3499"/>
              </a:lnSpc>
              <a:spcBef>
                <a:spcPct val="0"/>
              </a:spcBef>
            </a:pPr>
            <a:r>
              <a:rPr lang="en-US" sz="2499">
                <a:solidFill>
                  <a:srgbClr val="D4B27E"/>
                </a:solidFill>
                <a:latin typeface="Nyutro Sans"/>
                <a:ea typeface="Nyutro Sans"/>
                <a:cs typeface="Nyutro Sans"/>
                <a:sym typeface="Nyutro Sans"/>
              </a:rPr>
              <a:t>A</a:t>
            </a:r>
            <a:r>
              <a:rPr lang="en-US" sz="2499" u="none" strike="noStrike">
                <a:solidFill>
                  <a:srgbClr val="D4B27E"/>
                </a:solidFill>
                <a:latin typeface="Nyutro Sans"/>
                <a:ea typeface="Nyutro Sans"/>
                <a:cs typeface="Nyutro Sans"/>
                <a:sym typeface="Nyutro Sans"/>
              </a:rPr>
              <a:t>zalmaya başladı.</a:t>
            </a:r>
          </a:p>
        </p:txBody>
      </p:sp>
      <p:sp>
        <p:nvSpPr>
          <p:cNvPr id="10" name="TextBox 10"/>
          <p:cNvSpPr txBox="1"/>
          <p:nvPr/>
        </p:nvSpPr>
        <p:spPr>
          <a:xfrm>
            <a:off x="13611225" y="6838950"/>
            <a:ext cx="4010025" cy="908050"/>
          </a:xfrm>
          <a:prstGeom prst="rect">
            <a:avLst/>
          </a:prstGeom>
        </p:spPr>
        <p:txBody>
          <a:bodyPr lIns="0" tIns="0" rIns="0" bIns="0" rtlCol="0" anchor="t">
            <a:spAutoFit/>
          </a:bodyPr>
          <a:lstStyle/>
          <a:p>
            <a:pPr marL="0" lvl="0" indent="0" algn="l">
              <a:lnSpc>
                <a:spcPts val="3499"/>
              </a:lnSpc>
              <a:spcBef>
                <a:spcPct val="0"/>
              </a:spcBef>
            </a:pPr>
            <a:r>
              <a:rPr lang="en-US" sz="2499">
                <a:solidFill>
                  <a:srgbClr val="D4B27E"/>
                </a:solidFill>
                <a:latin typeface="Nyutro Sans"/>
                <a:ea typeface="Nyutro Sans"/>
                <a:cs typeface="Nyutro Sans"/>
                <a:sym typeface="Nyutro Sans"/>
              </a:rPr>
              <a:t>Yerini sadaka kutusuna bıraktı.</a:t>
            </a:r>
          </a:p>
        </p:txBody>
      </p:sp>
      <p:sp>
        <p:nvSpPr>
          <p:cNvPr id="11" name="AutoShape 11"/>
          <p:cNvSpPr/>
          <p:nvPr/>
        </p:nvSpPr>
        <p:spPr>
          <a:xfrm>
            <a:off x="1800225" y="6038850"/>
            <a:ext cx="17870997" cy="0"/>
          </a:xfrm>
          <a:prstGeom prst="line">
            <a:avLst/>
          </a:prstGeom>
          <a:ln w="57150" cap="flat">
            <a:solidFill>
              <a:srgbClr val="D4B27E"/>
            </a:solidFill>
            <a:prstDash val="solid"/>
            <a:headEnd type="none" w="sm" len="sm"/>
            <a:tailEnd type="none" w="sm" len="sm"/>
          </a:ln>
        </p:spPr>
      </p:sp>
      <p:sp>
        <p:nvSpPr>
          <p:cNvPr id="12" name="Freeform 12"/>
          <p:cNvSpPr/>
          <p:nvPr/>
        </p:nvSpPr>
        <p:spPr>
          <a:xfrm>
            <a:off x="666750" y="5588977"/>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a:off x="4981575" y="5650890"/>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a:off x="9296400" y="5650890"/>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Freeform 15"/>
          <p:cNvSpPr/>
          <p:nvPr/>
        </p:nvSpPr>
        <p:spPr>
          <a:xfrm>
            <a:off x="13611225" y="5650890"/>
            <a:ext cx="1903307" cy="899745"/>
          </a:xfrm>
          <a:custGeom>
            <a:avLst/>
            <a:gdLst/>
            <a:ahLst/>
            <a:cxnLst/>
            <a:rect l="l" t="t" r="r" b="b"/>
            <a:pathLst>
              <a:path w="1903307" h="899745">
                <a:moveTo>
                  <a:pt x="0" y="0"/>
                </a:moveTo>
                <a:lnTo>
                  <a:pt x="1903307" y="0"/>
                </a:lnTo>
                <a:lnTo>
                  <a:pt x="1903307" y="899746"/>
                </a:lnTo>
                <a:lnTo>
                  <a:pt x="0" y="89974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A2E1F"/>
        </a:solidFill>
        <a:effectLst/>
      </p:bgPr>
    </p:bg>
    <p:spTree>
      <p:nvGrpSpPr>
        <p:cNvPr id="1" name=""/>
        <p:cNvGrpSpPr/>
        <p:nvPr/>
      </p:nvGrpSpPr>
      <p:grpSpPr>
        <a:xfrm>
          <a:off x="0" y="0"/>
          <a:ext cx="0" cy="0"/>
          <a:chOff x="0" y="0"/>
          <a:chExt cx="0" cy="0"/>
        </a:xfrm>
      </p:grpSpPr>
      <p:sp>
        <p:nvSpPr>
          <p:cNvPr id="2" name="TextBox 2"/>
          <p:cNvSpPr txBox="1"/>
          <p:nvPr/>
        </p:nvSpPr>
        <p:spPr>
          <a:xfrm>
            <a:off x="9296400" y="8264225"/>
            <a:ext cx="4010025" cy="469900"/>
          </a:xfrm>
          <a:prstGeom prst="rect">
            <a:avLst/>
          </a:prstGeom>
        </p:spPr>
        <p:txBody>
          <a:bodyPr lIns="0" tIns="0" rIns="0" bIns="0" rtlCol="0" anchor="t">
            <a:spAutoFit/>
          </a:bodyPr>
          <a:lstStyle/>
          <a:p>
            <a:pPr marL="0" lvl="0" indent="0" algn="l">
              <a:lnSpc>
                <a:spcPts val="3499"/>
              </a:lnSpc>
            </a:pPr>
            <a:endParaRPr/>
          </a:p>
        </p:txBody>
      </p:sp>
      <p:sp>
        <p:nvSpPr>
          <p:cNvPr id="3" name="TextBox 3"/>
          <p:cNvSpPr txBox="1"/>
          <p:nvPr/>
        </p:nvSpPr>
        <p:spPr>
          <a:xfrm>
            <a:off x="1847962" y="2462436"/>
            <a:ext cx="14077950" cy="1295400"/>
          </a:xfrm>
          <a:prstGeom prst="rect">
            <a:avLst/>
          </a:prstGeom>
        </p:spPr>
        <p:txBody>
          <a:bodyPr lIns="0" tIns="0" rIns="0" bIns="0" rtlCol="0" anchor="t">
            <a:spAutoFit/>
          </a:bodyPr>
          <a:lstStyle/>
          <a:p>
            <a:pPr marL="0" lvl="0" indent="0" algn="l">
              <a:lnSpc>
                <a:spcPts val="8100"/>
              </a:lnSpc>
              <a:spcBef>
                <a:spcPct val="0"/>
              </a:spcBef>
            </a:pPr>
            <a:r>
              <a:rPr lang="en-US" sz="9000" b="1" spc="-89">
                <a:solidFill>
                  <a:srgbClr val="D4B27E"/>
                </a:solidFill>
                <a:latin typeface="Nyutro Sans Heavy"/>
                <a:ea typeface="Nyutro Sans Heavy"/>
                <a:cs typeface="Nyutro Sans Heavy"/>
                <a:sym typeface="Nyutro Sans Heavy"/>
              </a:rPr>
              <a:t>Dinlediğiniz için teşekkürler</a:t>
            </a:r>
          </a:p>
        </p:txBody>
      </p:sp>
      <p:sp>
        <p:nvSpPr>
          <p:cNvPr id="4" name="TextBox 4"/>
          <p:cNvSpPr txBox="1"/>
          <p:nvPr/>
        </p:nvSpPr>
        <p:spPr>
          <a:xfrm>
            <a:off x="5690641" y="5449056"/>
            <a:ext cx="14077950" cy="1295400"/>
          </a:xfrm>
          <a:prstGeom prst="rect">
            <a:avLst/>
          </a:prstGeom>
        </p:spPr>
        <p:txBody>
          <a:bodyPr lIns="0" tIns="0" rIns="0" bIns="0" rtlCol="0" anchor="t">
            <a:spAutoFit/>
          </a:bodyPr>
          <a:lstStyle/>
          <a:p>
            <a:pPr marL="0" lvl="0" indent="0" algn="l">
              <a:lnSpc>
                <a:spcPts val="8100"/>
              </a:lnSpc>
              <a:spcBef>
                <a:spcPct val="0"/>
              </a:spcBef>
            </a:pPr>
            <a:r>
              <a:rPr lang="en-US" sz="9000" b="1" spc="-89">
                <a:solidFill>
                  <a:srgbClr val="D4B27E"/>
                </a:solidFill>
                <a:latin typeface="Nyutro Sans Heavy"/>
                <a:ea typeface="Nyutro Sans Heavy"/>
                <a:cs typeface="Nyutro Sans Heavy"/>
                <a:sym typeface="Nyutro Sans Heavy"/>
              </a:rPr>
              <a:t>-Yunus Emin</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250</Words>
  <Application>Microsoft Office PowerPoint</Application>
  <PresentationFormat>Özel</PresentationFormat>
  <Paragraphs>36</Paragraphs>
  <Slides>7</Slides>
  <Notes>0</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7</vt:i4>
      </vt:variant>
    </vt:vector>
  </HeadingPairs>
  <TitlesOfParts>
    <vt:vector size="13" baseType="lpstr">
      <vt:lpstr>Nyutro Sans Bold</vt:lpstr>
      <vt:lpstr>Calibri</vt:lpstr>
      <vt:lpstr>Arial</vt:lpstr>
      <vt:lpstr>Nyutro Sans Heavy</vt:lpstr>
      <vt:lpstr>Nyutro Sans</vt:lpstr>
      <vt:lpstr>Office Theme</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SADAKA SADAKA</dc:title>
  <cp:lastModifiedBy>Yunus Emin Kalaycı</cp:lastModifiedBy>
  <cp:revision>2</cp:revision>
  <dcterms:created xsi:type="dcterms:W3CDTF">2006-08-16T00:00:00Z</dcterms:created>
  <dcterms:modified xsi:type="dcterms:W3CDTF">2026-03-29T11:49:24Z</dcterms:modified>
  <dc:identifier>DAHFU6Fk3mk</dc:identifier>
</cp:coreProperties>
</file>